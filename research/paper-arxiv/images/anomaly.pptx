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350000" cy="419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7000" y="254000"/>
            <a:ext cx="1905000" cy="2616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chart-line--0070f3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381000"/>
            <a:ext cx="177800" cy="17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338138"/>
            <a:ext cx="13779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16-d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15938"/>
            <a:ext cx="762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00" y="753745"/>
            <a:ext cx="1905508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scored vs. the agent's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000" y="906145"/>
            <a:ext cx="1039368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own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000" y="1168400"/>
            <a:ext cx="1651000" cy="279400"/>
          </a:xfrm>
          <a:prstGeom prst="roundRect">
            <a:avLst>
              <a:gd name="adj" fmla="val 18181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900" y="1134745"/>
            <a:ext cx="1039368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Geist"/>
              </a:rPr>
              <a:t>tool novelty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" y="1256348"/>
            <a:ext cx="1157478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Geist Mono"/>
              </a:rPr>
              <a:t>freq · recency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000" y="1485900"/>
            <a:ext cx="1651000" cy="279400"/>
          </a:xfrm>
          <a:prstGeom prst="roundRect">
            <a:avLst>
              <a:gd name="adj" fmla="val 18181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2900" y="1452245"/>
            <a:ext cx="121259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Geist"/>
              </a:rPr>
              <a:t>argument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573848"/>
            <a:ext cx="1240155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Geist Mono"/>
              </a:rPr>
              <a:t>Jaccard · len-z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000" y="1803400"/>
            <a:ext cx="1651000" cy="279400"/>
          </a:xfrm>
          <a:prstGeom prst="roundRect">
            <a:avLst>
              <a:gd name="adj" fmla="val 18181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2900" y="17697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Geist"/>
              </a:rPr>
              <a:t>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" y="1891348"/>
            <a:ext cx="992124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Geist Mono"/>
              </a:rPr>
              <a:t>hour · burst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000" y="2120900"/>
            <a:ext cx="1651000" cy="279400"/>
          </a:xfrm>
          <a:prstGeom prst="roundRect">
            <a:avLst>
              <a:gd name="adj" fmla="val 18181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2900" y="20872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Geist"/>
              </a:rPr>
              <a:t>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" y="2208848"/>
            <a:ext cx="1157478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Geist Mono"/>
              </a:rPr>
              <a:t>PPM-C · bigram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4000" y="2438400"/>
            <a:ext cx="1651000" cy="279400"/>
          </a:xfrm>
          <a:prstGeom prst="roundRect">
            <a:avLst>
              <a:gd name="adj" fmla="val 18181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2900" y="2404745"/>
            <a:ext cx="95275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Geist"/>
              </a:rPr>
              <a:t>cost /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" y="2526348"/>
            <a:ext cx="909447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Geist Mono"/>
              </a:rPr>
              <a:t>z · ordinal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11400" y="254000"/>
            <a:ext cx="1905000" cy="2616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438400" y="338138"/>
            <a:ext cx="787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ensemble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38400" y="685800"/>
            <a:ext cx="1651000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binary-tree--4d4d4d.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300" y="749300"/>
            <a:ext cx="165100" cy="1651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781300" y="728345"/>
            <a:ext cx="138582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717"/>
                </a:solidFill>
                <a:latin typeface="Geist"/>
              </a:rPr>
              <a:t>Isolation Forest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38400" y="1066800"/>
            <a:ext cx="1651000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binary-tree--4d4d4d.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300" y="1130300"/>
            <a:ext cx="165100" cy="1651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81300" y="1109345"/>
            <a:ext cx="138582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717"/>
                </a:solidFill>
                <a:latin typeface="Geist"/>
              </a:rPr>
              <a:t>half-space trees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8400" y="1447800"/>
            <a:ext cx="1651000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scale--4d4d4d.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300" y="1511300"/>
            <a:ext cx="165100" cy="1651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781300" y="1490345"/>
            <a:ext cx="95275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717"/>
                </a:solidFill>
                <a:latin typeface="Geist"/>
              </a:rPr>
              <a:t>Mahalanobis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38400" y="1905000"/>
            <a:ext cx="1651000" cy="330200"/>
          </a:xfrm>
          <a:prstGeom prst="roundRect">
            <a:avLst>
              <a:gd name="adj" fmla="val 23076"/>
            </a:avLst>
          </a:prstGeom>
          <a:solidFill>
            <a:srgbClr val="D3E5FF"/>
          </a:solidFill>
          <a:ln w="12700">
            <a:solidFill>
              <a:srgbClr val="007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540000" y="1952942"/>
            <a:ext cx="1177163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71717"/>
                </a:solidFill>
                <a:latin typeface="Geist"/>
              </a:rPr>
              <a:t>anomaly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8400" y="2303145"/>
            <a:ext cx="1472438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split-conformal 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8400" y="2475548"/>
            <a:ext cx="1736217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8A8A"/>
                </a:solidFill>
                <a:latin typeface="Geist"/>
              </a:rPr>
              <a:t>reported, not decided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95800" y="254000"/>
            <a:ext cx="1727200" cy="2616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622800" y="338138"/>
            <a:ext cx="11811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decision cap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2800" y="532448"/>
            <a:ext cx="1570863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8A8A"/>
                </a:solidFill>
                <a:latin typeface="Geist"/>
              </a:rPr>
              <a:t>by cold-start phase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22800" y="838200"/>
            <a:ext cx="1473200" cy="3556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724400" y="8299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Geist"/>
              </a:rPr>
              <a:t>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24400" y="989648"/>
            <a:ext cx="992124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8A8A"/>
                </a:solidFill>
                <a:latin typeface="Geist"/>
              </a:rPr>
              <a:t>observe only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22800" y="1257300"/>
            <a:ext cx="1473200" cy="3556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724400" y="1249045"/>
            <a:ext cx="77952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Geist"/>
              </a:rPr>
              <a:t>graduated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4400" y="1408748"/>
            <a:ext cx="7620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96500"/>
                </a:solidFill>
                <a:latin typeface="Geist"/>
              </a:rPr>
              <a:t>≤ flag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22800" y="1676400"/>
            <a:ext cx="1473200" cy="3556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724400" y="16681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Geist"/>
              </a:rPr>
              <a:t>active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4400" y="1827848"/>
            <a:ext cx="7620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40000"/>
                </a:solidFill>
                <a:latin typeface="Geist"/>
              </a:rPr>
              <a:t>may block</a:t>
            </a:r>
          </a:p>
        </p:txBody>
      </p:sp>
      <p:pic>
        <p:nvPicPr>
          <p:cNvPr id="50" name="Picture 49" descr="arrows-split-2--0e8a5f.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800" y="2120900"/>
            <a:ext cx="165100" cy="1651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851400" y="2107248"/>
            <a:ext cx="1157478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E8A5F"/>
                </a:solidFill>
                <a:latin typeface="Geist"/>
              </a:rPr>
              <a:t>tightens only;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00" y="2259648"/>
            <a:ext cx="1074801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E8A5F"/>
                </a:solidFill>
                <a:latin typeface="Geist"/>
              </a:rPr>
              <a:t>never relaxes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057400" y="1562100"/>
            <a:ext cx="2286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241800" y="1562100"/>
            <a:ext cx="228600" cy="0"/>
          </a:xfrm>
          <a:prstGeom prst="line">
            <a:avLst/>
          </a:prstGeom>
          <a:ln w="2032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27000" y="3022600"/>
            <a:ext cx="1905000" cy="1016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refresh--a96500.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0" y="3149600"/>
            <a:ext cx="177800" cy="1778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08000" y="3121342"/>
            <a:ext cx="996061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71717"/>
                </a:solidFill>
                <a:latin typeface="Geist"/>
              </a:rPr>
              <a:t>ADWIN drift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000" y="3382645"/>
            <a:ext cx="121259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resets feature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4000" y="3560445"/>
            <a:ext cx="121259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normalisation;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4000" y="3738245"/>
            <a:ext cx="164566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keeps the reservoir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311400" y="3022600"/>
            <a:ext cx="3911600" cy="1016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2" name="Picture 61" descr="user-check--0070f3.2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400" y="3149600"/>
            <a:ext cx="177800" cy="1778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692400" y="3121342"/>
            <a:ext cx="398424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71717"/>
                </a:solidFill>
                <a:latin typeface="Geist"/>
              </a:rPr>
              <a:t>operator feedback — active anomaly discovery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38400" y="3382645"/>
            <a:ext cx="4590542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an approve / reject on a held call scored &gt; 0.3 flows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38400" y="3560445"/>
            <a:ext cx="4590542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back into the reservoir and the score tracker, so the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38400" y="3738245"/>
            <a:ext cx="441731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"/>
              </a:rPr>
              <a:t>layer moves toward the operator's notion of normal.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3810000" y="2933700"/>
            <a:ext cx="0" cy="88900"/>
          </a:xfrm>
          <a:prstGeom prst="line">
            <a:avLst/>
          </a:prstGeom>
          <a:ln w="17780">
            <a:solidFill>
              <a:srgbClr val="0070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3263900" y="2933700"/>
            <a:ext cx="546100" cy="0"/>
          </a:xfrm>
          <a:prstGeom prst="line">
            <a:avLst/>
          </a:prstGeom>
          <a:ln w="17780">
            <a:solidFill>
              <a:srgbClr val="0070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263900" y="2895600"/>
            <a:ext cx="0" cy="38100"/>
          </a:xfrm>
          <a:prstGeom prst="line">
            <a:avLst/>
          </a:prstGeom>
          <a:ln w="17780">
            <a:solidFill>
              <a:srgbClr val="0070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