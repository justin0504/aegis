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700000" cy="4114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600" y="355600"/>
            <a:ext cx="12496800" cy="1041400"/>
          </a:xfrm>
          <a:prstGeom prst="roundRect">
            <a:avLst>
              <a:gd name="adj" fmla="val 9756"/>
            </a:avLst>
          </a:prstGeom>
          <a:solidFill>
            <a:srgbClr val="FAFAFA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101600" y="355600"/>
            <a:ext cx="1879600" cy="104140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robot--4d4d4d.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495300"/>
            <a:ext cx="203200" cy="20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427038"/>
            <a:ext cx="98425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71717"/>
                </a:solidFill>
                <a:latin typeface="Geist"/>
              </a:rPr>
              <a:t>Agent host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4000" y="664845"/>
            <a:ext cx="1212596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Geist"/>
              </a:rPr>
              <a:t>SDK, two lines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600" y="1498600"/>
            <a:ext cx="12496800" cy="1066800"/>
          </a:xfrm>
          <a:prstGeom prst="roundRect">
            <a:avLst>
              <a:gd name="adj" fmla="val 9523"/>
            </a:avLst>
          </a:prstGeom>
          <a:solidFill>
            <a:srgbClr val="FAFAFA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01600" y="1498600"/>
            <a:ext cx="1879600" cy="106680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shield-half--4d4d4d.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638300"/>
            <a:ext cx="203200" cy="203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1570038"/>
            <a:ext cx="1279525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71717"/>
                </a:solidFill>
                <a:latin typeface="Geist"/>
              </a:rPr>
              <a:t>AEGIS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000" y="1807845"/>
            <a:ext cx="1125982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Geist"/>
              </a:rPr>
              <a:t>operator side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600" y="2667000"/>
            <a:ext cx="12496800" cy="660400"/>
          </a:xfrm>
          <a:prstGeom prst="roundRect">
            <a:avLst>
              <a:gd name="adj" fmla="val 15384"/>
            </a:avLst>
          </a:prstGeom>
          <a:solidFill>
            <a:srgbClr val="FAFAFA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101600" y="2667000"/>
            <a:ext cx="1879600" cy="6604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user-check--4d4d4d.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" y="2806700"/>
            <a:ext cx="203200" cy="203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3400" y="2738438"/>
            <a:ext cx="7874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71717"/>
                </a:solidFill>
                <a:latin typeface="Geist"/>
              </a:rPr>
              <a:t>Reviewer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000" y="2976245"/>
            <a:ext cx="1385824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Geist"/>
              </a:rPr>
              <a:t>auditor → person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600" y="3429000"/>
            <a:ext cx="12496800" cy="584200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101600" y="3429000"/>
            <a:ext cx="1879600" cy="5842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database--4d4d4d.25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000" y="3568700"/>
            <a:ext cx="203200" cy="203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3400" y="3500438"/>
            <a:ext cx="885825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71717"/>
                </a:solidFill>
                <a:latin typeface="Geist"/>
              </a:rPr>
              <a:t>Audit 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000" y="3738245"/>
            <a:ext cx="86614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Geist"/>
              </a:rPr>
              <a:t>hash chain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912600" y="60643"/>
            <a:ext cx="7620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A8A8A"/>
                </a:solidFill>
                <a:latin typeface="Geist"/>
              </a:rPr>
              <a:t>time 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08200" y="406400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171717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835150" y="398145"/>
            <a:ext cx="7620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ist"/>
              </a:rP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87600" y="508000"/>
            <a:ext cx="1651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501900" y="530542"/>
            <a:ext cx="1177163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71717"/>
                </a:solidFill>
                <a:latin typeface="Geist"/>
              </a:rPr>
              <a:t>context spans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01900" y="708342"/>
            <a:ext cx="1629918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D4D4D"/>
                </a:solidFill>
                <a:latin typeface="Geist"/>
              </a:rPr>
              <a:t>user / untrusted 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01900" y="886143"/>
            <a:ext cx="1448816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D4D4D"/>
                </a:solidFill>
                <a:latin typeface="Geist"/>
              </a:rPr>
              <a:t>model · pre-call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200400" y="1168400"/>
            <a:ext cx="0" cy="508000"/>
          </a:xfrm>
          <a:prstGeom prst="line">
            <a:avLst/>
          </a:prstGeom>
          <a:ln w="19050">
            <a:solidFill>
              <a:srgbClr val="0070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251200" y="1299845"/>
            <a:ext cx="1039368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70F3"/>
                </a:solidFill>
                <a:latin typeface="Geist"/>
              </a:rPr>
              <a:t>ledger write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87600" y="1701800"/>
            <a:ext cx="1651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0070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501900" y="1724342"/>
            <a:ext cx="1267714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71717"/>
                </a:solidFill>
                <a:latin typeface="Geist"/>
              </a:rPr>
              <a:t>context ledger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01900" y="1916748"/>
            <a:ext cx="1488186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Geist Mono"/>
              </a:rPr>
              <a:t>64 events · 256 KB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01900" y="2079942"/>
            <a:ext cx="181102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A8A8A"/>
                </a:solidFill>
                <a:latin typeface="Geist"/>
              </a:rPr>
              <a:t>per session · tenant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40200" y="406400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171717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867150" y="398145"/>
            <a:ext cx="7620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ist"/>
              </a:rPr>
              <a:t>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19600" y="508000"/>
            <a:ext cx="1651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533900" y="530542"/>
            <a:ext cx="1539367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71717"/>
                </a:solidFill>
                <a:latin typeface="Geist"/>
              </a:rPr>
              <a:t>emits a tool call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33900" y="708342"/>
            <a:ext cx="7620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D40000"/>
                </a:solidFill>
                <a:latin typeface="Geist"/>
              </a:rPr>
              <a:t>dispatch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33900" y="886143"/>
            <a:ext cx="814959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D40000"/>
                </a:solidFill>
                <a:latin typeface="Geist"/>
              </a:rPr>
              <a:t>suspended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232400" y="1168400"/>
            <a:ext cx="0" cy="482600"/>
          </a:xfrm>
          <a:prstGeom prst="line">
            <a:avLst/>
          </a:prstGeom>
          <a:ln w="1905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283200" y="1287145"/>
            <a:ext cx="952754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Geist Mono"/>
              </a:rPr>
              <a:t>POST /check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97600" y="1473200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171717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924550" y="1464945"/>
            <a:ext cx="7620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ist"/>
              </a:rPr>
              <a:t>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26200" y="1778000"/>
            <a:ext cx="508000" cy="3810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299200" y="1858645"/>
            <a:ext cx="7620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71717"/>
                </a:solidFill>
                <a:latin typeface="Geist"/>
              </a:rPr>
              <a:t>id·scope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934200" y="1968500"/>
            <a:ext cx="50800" cy="0"/>
          </a:xfrm>
          <a:prstGeom prst="line">
            <a:avLst/>
          </a:prstGeom>
          <a:ln w="1397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6985000" y="1778000"/>
            <a:ext cx="508000" cy="3810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858000" y="1858645"/>
            <a:ext cx="7620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71717"/>
                </a:solidFill>
                <a:latin typeface="Geist"/>
              </a:rPr>
              <a:t>extract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493000" y="1968500"/>
            <a:ext cx="50800" cy="0"/>
          </a:xfrm>
          <a:prstGeom prst="line">
            <a:avLst/>
          </a:prstGeom>
          <a:ln w="1397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7543800" y="1778000"/>
            <a:ext cx="508000" cy="3810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416800" y="1858645"/>
            <a:ext cx="7620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71717"/>
                </a:solidFill>
                <a:latin typeface="Geist"/>
              </a:rPr>
              <a:t>L1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051800" y="1968500"/>
            <a:ext cx="50800" cy="0"/>
          </a:xfrm>
          <a:prstGeom prst="line">
            <a:avLst/>
          </a:prstGeom>
          <a:ln w="1397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8102600" y="1778000"/>
            <a:ext cx="508000" cy="3810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7975600" y="1858645"/>
            <a:ext cx="7620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71717"/>
                </a:solidFill>
                <a:latin typeface="Geist"/>
              </a:rPr>
              <a:t>L2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610600" y="1968500"/>
            <a:ext cx="50800" cy="0"/>
          </a:xfrm>
          <a:prstGeom prst="line">
            <a:avLst/>
          </a:prstGeom>
          <a:ln w="1397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8661400" y="1778000"/>
            <a:ext cx="508000" cy="3810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0070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8534400" y="1858645"/>
            <a:ext cx="7620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70F3"/>
                </a:solidFill>
                <a:latin typeface="Geist"/>
              </a:rPr>
              <a:t>Lp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169400" y="1968500"/>
            <a:ext cx="50800" cy="0"/>
          </a:xfrm>
          <a:prstGeom prst="line">
            <a:avLst/>
          </a:prstGeom>
          <a:ln w="1397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9220200" y="1778000"/>
            <a:ext cx="508000" cy="3810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9093200" y="1858645"/>
            <a:ext cx="7620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71717"/>
                </a:solidFill>
                <a:latin typeface="Geist"/>
              </a:rPr>
              <a:t>policy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26200" y="2176145"/>
            <a:ext cx="4244086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Geist"/>
              </a:rPr>
              <a:t>one bounded pass · 0.44 ms median · no model call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753600" y="1473200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171717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9480550" y="1464945"/>
            <a:ext cx="7620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ist"/>
              </a:rPr>
              <a:t>4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9779000" y="1752600"/>
            <a:ext cx="254000" cy="0"/>
          </a:xfrm>
          <a:prstGeom prst="line">
            <a:avLst/>
          </a:prstGeom>
          <a:ln w="20320">
            <a:solidFill>
              <a:srgbClr val="0E8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0033000" y="800100"/>
            <a:ext cx="0" cy="952500"/>
          </a:xfrm>
          <a:prstGeom prst="line">
            <a:avLst/>
          </a:prstGeom>
          <a:ln w="20320">
            <a:solidFill>
              <a:srgbClr val="0E8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7" name="Picture 66" descr="lock-check--0e8a5f.2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9200" y="596900"/>
            <a:ext cx="165100" cy="16510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0337800" y="548640"/>
            <a:ext cx="7620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8A5F"/>
                </a:solidFill>
                <a:latin typeface="Geist"/>
              </a:rPr>
              <a:t>allow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09200" y="753745"/>
            <a:ext cx="1472438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E8A5F"/>
                </a:solidFill>
                <a:latin typeface="Geist"/>
              </a:rPr>
              <a:t>+ Ed25519 receipt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109200" y="938848"/>
            <a:ext cx="2066925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A8A8A"/>
                </a:solidFill>
                <a:latin typeface="Geist"/>
              </a:rPr>
              <a:t>executor verifies offline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9779000" y="2006600"/>
            <a:ext cx="76200" cy="0"/>
          </a:xfrm>
          <a:prstGeom prst="line">
            <a:avLst/>
          </a:prstGeom>
          <a:ln w="20320">
            <a:solidFill>
              <a:srgbClr val="D4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9855200" y="1282700"/>
            <a:ext cx="0" cy="723900"/>
          </a:xfrm>
          <a:prstGeom prst="line">
            <a:avLst/>
          </a:prstGeom>
          <a:ln w="20320">
            <a:solidFill>
              <a:srgbClr val="D4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0007600" y="1158240"/>
            <a:ext cx="7620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40000"/>
                </a:solidFill>
                <a:latin typeface="Geist"/>
              </a:rPr>
              <a:t>block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490200" y="1180148"/>
            <a:ext cx="2314956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A8A8A"/>
                </a:solidFill>
                <a:latin typeface="Geist"/>
              </a:rPr>
              <a:t>· refusal in the result slot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9779000" y="2260600"/>
            <a:ext cx="152400" cy="0"/>
          </a:xfrm>
          <a:prstGeom prst="line">
            <a:avLst/>
          </a:prstGeom>
          <a:ln w="20320">
            <a:solidFill>
              <a:srgbClr val="A96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9931400" y="2260600"/>
            <a:ext cx="0" cy="660400"/>
          </a:xfrm>
          <a:prstGeom prst="line">
            <a:avLst/>
          </a:prstGeom>
          <a:ln w="20320">
            <a:solidFill>
              <a:srgbClr val="A96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9779000" y="2542540"/>
            <a:ext cx="7620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96500"/>
                </a:solidFill>
                <a:latin typeface="Geist"/>
              </a:rPr>
              <a:t>hold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109200" y="2768600"/>
            <a:ext cx="2413000" cy="4826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A96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10223500" y="2791142"/>
            <a:ext cx="2535428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71717"/>
                </a:solidFill>
                <a:latin typeface="Geist"/>
              </a:rPr>
              <a:t>auditor releases what serves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223500" y="2968942"/>
            <a:ext cx="271653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D4D4D"/>
                </a:solidFill>
                <a:latin typeface="Geist"/>
              </a:rPr>
              <a:t>the task; person sees the rest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9779000" y="2463800"/>
            <a:ext cx="2616200" cy="0"/>
          </a:xfrm>
          <a:prstGeom prst="line">
            <a:avLst/>
          </a:prstGeom>
          <a:ln w="1778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2395200" y="2463800"/>
            <a:ext cx="0" cy="1079500"/>
          </a:xfrm>
          <a:prstGeom prst="line">
            <a:avLst/>
          </a:prstGeom>
          <a:ln w="1778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2"/>
          <p:cNvSpPr/>
          <p:nvPr/>
        </p:nvSpPr>
        <p:spPr>
          <a:xfrm>
            <a:off x="10109200" y="3492500"/>
            <a:ext cx="2413000" cy="4572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10223500" y="3522345"/>
            <a:ext cx="2425192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  <a:latin typeface="Geist"/>
              </a:rPr>
              <a:t>append trace → SHA-256 chain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223500" y="3714750"/>
            <a:ext cx="20472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D4D4D"/>
                </a:solidFill>
                <a:latin typeface="Geist Mono"/>
              </a:rPr>
              <a:t>head → Merkle log / 10 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