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645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457200"/>
            <a:ext cx="1879600" cy="2768600"/>
          </a:xfrm>
          <a:prstGeom prst="roundRect">
            <a:avLst>
              <a:gd name="adj" fmla="val 8108"/>
            </a:avLst>
          </a:prstGeom>
          <a:solidFill>
            <a:srgbClr val="FAFAFA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04800" y="4540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863600"/>
            <a:ext cx="1574800" cy="4318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obot--4d4d4d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990600"/>
            <a:ext cx="177800" cy="17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100" y="949071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717"/>
                </a:solidFill>
                <a:latin typeface="Geist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200" y="1381442"/>
            <a:ext cx="1720469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D4D4D"/>
                </a:solidFill>
                <a:latin typeface="Geist"/>
              </a:rPr>
              <a:t>untrusted principal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" y="1701800"/>
            <a:ext cx="1574800" cy="7112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3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lug-connected--0070f3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828800"/>
            <a:ext cx="177800" cy="17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1798638"/>
            <a:ext cx="8858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070F3"/>
                </a:solidFill>
                <a:latin typeface="Geist"/>
              </a:rPr>
              <a:t>two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2128266"/>
            <a:ext cx="1445666" cy="2962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4D4D4D"/>
                </a:solidFill>
                <a:latin typeface="Geist Mono"/>
              </a:rPr>
              <a:t>agentguard.auto()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" y="2517140"/>
            <a:ext cx="12283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15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" y="2753042"/>
            <a:ext cx="144881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8A8A"/>
                </a:solidFill>
                <a:latin typeface="Geist"/>
              </a:rPr>
              <a:t>Python · JS ·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1800" y="5334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16050" y="4540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3600" y="626745"/>
            <a:ext cx="112598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Geist"/>
              </a:rPr>
              <a:t>three ways 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33600" y="965200"/>
            <a:ext cx="1041400" cy="25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40915" y="989648"/>
            <a:ext cx="826770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171717"/>
                </a:solidFill>
                <a:latin typeface="Geist Mono"/>
              </a:rPr>
              <a:t>SDK auto()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1092200"/>
            <a:ext cx="381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33600" y="1371600"/>
            <a:ext cx="1041400" cy="25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273300" y="1396048"/>
            <a:ext cx="762000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4D4D4D"/>
                </a:solidFill>
                <a:latin typeface="Geist Mono"/>
              </a:rPr>
              <a:t>MCP proxy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00400" y="1498600"/>
            <a:ext cx="381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33600" y="1778000"/>
            <a:ext cx="1041400" cy="25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58238" y="1802448"/>
            <a:ext cx="992124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4D4D4D"/>
                </a:solidFill>
                <a:latin typeface="Geist Mono"/>
              </a:rPr>
              <a:t>egress proxy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05000"/>
            <a:ext cx="381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70100" y="1092200"/>
            <a:ext cx="25400" cy="0"/>
          </a:xfrm>
          <a:prstGeom prst="line">
            <a:avLst/>
          </a:prstGeom>
          <a:ln w="1778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33600" y="2107248"/>
            <a:ext cx="1157478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proxies decide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3600" y="2272348"/>
            <a:ext cx="1240155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inline; no hold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76600" y="457200"/>
            <a:ext cx="6959600" cy="2768600"/>
          </a:xfrm>
          <a:prstGeom prst="roundRect">
            <a:avLst>
              <a:gd name="adj" fmla="val 5504"/>
            </a:avLst>
          </a:prstGeom>
          <a:solidFill>
            <a:srgbClr val="FAFAFA"/>
          </a:solidFill>
          <a:ln w="1270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479800" y="539115"/>
            <a:ext cx="1740154" cy="466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717"/>
                </a:solidFill>
                <a:latin typeface="Geist"/>
              </a:rPr>
              <a:t>Aegis Gateway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1600" y="612140"/>
            <a:ext cx="2267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D4D4D"/>
                </a:solidFill>
                <a:latin typeface="Geist"/>
              </a:rPr>
              <a:t>the call has not run yet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55054" y="626745"/>
            <a:ext cx="3377946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8A8A8A"/>
                </a:solidFill>
                <a:latin typeface="Geist"/>
              </a:rPr>
              <a:t>layers ordered by what they may observe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965200"/>
            <a:ext cx="12700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regex--171717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2108200"/>
            <a:ext cx="165100" cy="1651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556000" y="1063942"/>
            <a:ext cx="814959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717"/>
                </a:solidFill>
                <a:latin typeface="Geist"/>
              </a:rPr>
              <a:t>L1  rules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30600" y="1397000"/>
            <a:ext cx="1066800" cy="279400"/>
          </a:xfrm>
          <a:prstGeom prst="roundRect">
            <a:avLst>
              <a:gd name="adj" fmla="val 18181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609276" y="1434148"/>
            <a:ext cx="909447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171717"/>
                </a:solidFill>
                <a:latin typeface="Geist Mono"/>
              </a:rPr>
              <a:t>call string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6000" y="17624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&lt;1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6000" y="2005648"/>
            <a:ext cx="909447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28 patterns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711700" y="1536700"/>
            <a:ext cx="508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775200" y="965200"/>
            <a:ext cx="12700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inary-tree--171717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5800" y="2108200"/>
            <a:ext cx="165100" cy="1651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902200" y="10639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717"/>
                </a:solidFill>
                <a:latin typeface="Geist"/>
              </a:rPr>
              <a:t>L2  behaviour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76800" y="1397000"/>
            <a:ext cx="1066800" cy="279400"/>
          </a:xfrm>
          <a:prstGeom prst="roundRect">
            <a:avLst>
              <a:gd name="adj" fmla="val 18181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872800" y="1434148"/>
            <a:ext cx="1074801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171717"/>
                </a:solidFill>
                <a:latin typeface="Geist Mono"/>
              </a:rPr>
              <a:t>agent history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2200" y="1762442"/>
            <a:ext cx="90551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in-process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2200" y="2005648"/>
            <a:ext cx="1074801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never relaxes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057900" y="1536700"/>
            <a:ext cx="508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121400" y="965200"/>
            <a:ext cx="12700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70F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route--0070f3.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2000" y="2108200"/>
            <a:ext cx="165100" cy="1651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248400" y="1063942"/>
            <a:ext cx="1177163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070F3"/>
                </a:solidFill>
                <a:latin typeface="Geist"/>
              </a:rPr>
              <a:t>Lp provenance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3000" y="1397000"/>
            <a:ext cx="1066800" cy="279400"/>
          </a:xfrm>
          <a:prstGeom prst="roundRect">
            <a:avLst>
              <a:gd name="adj" fmla="val 18181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219000" y="1434148"/>
            <a:ext cx="1074801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171717"/>
                </a:solidFill>
                <a:latin typeface="Geist Mono"/>
              </a:rPr>
              <a:t>channel split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48400" y="17624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0070F3"/>
                </a:solidFill>
                <a:latin typeface="Geist"/>
              </a:rPr>
              <a:t>&lt;1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48400" y="2005648"/>
            <a:ext cx="1157478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session ledger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4100" y="1536700"/>
            <a:ext cx="508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7467600" y="965200"/>
            <a:ext cx="12700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8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bulb--171717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2108200"/>
            <a:ext cx="165100" cy="1651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594600" y="1063942"/>
            <a:ext cx="996061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717"/>
                </a:solidFill>
                <a:latin typeface="Geist"/>
              </a:rPr>
              <a:t>L3  auditor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69200" y="1397000"/>
            <a:ext cx="1066800" cy="279400"/>
          </a:xfrm>
          <a:prstGeom prst="roundRect">
            <a:avLst>
              <a:gd name="adj" fmla="val 18181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647877" y="1434148"/>
            <a:ext cx="909447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171717"/>
                </a:solidFill>
                <a:latin typeface="Geist Mono"/>
              </a:rPr>
              <a:t>stated task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94600" y="17624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1–2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94600" y="2005648"/>
            <a:ext cx="1322832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pre / post check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750300" y="1536700"/>
            <a:ext cx="508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8813800" y="965200"/>
            <a:ext cx="1270000" cy="142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scale--171717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4400" y="2108200"/>
            <a:ext cx="165100" cy="1651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940800" y="1063942"/>
            <a:ext cx="90551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1717"/>
                </a:solidFill>
                <a:latin typeface="Geist"/>
              </a:rPr>
              <a:t>Policy DSL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915400" y="1397000"/>
            <a:ext cx="1066800" cy="279400"/>
          </a:xfrm>
          <a:prstGeom prst="roundRect">
            <a:avLst>
              <a:gd name="adj" fmla="val 18181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067800" y="1434148"/>
            <a:ext cx="762000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171717"/>
                </a:solidFill>
                <a:latin typeface="Geist Mono"/>
              </a:rPr>
              <a:t>all facts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40800" y="1762442"/>
            <a:ext cx="762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constant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40800" y="2005648"/>
            <a:ext cx="1074801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tightens only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79800" y="2667635"/>
            <a:ext cx="818896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Geist"/>
              </a:rPr>
              <a:t>decision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4450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D7F2E7"/>
          </a:solidFill>
          <a:ln w="12700">
            <a:solidFill>
              <a:srgbClr val="D7F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6482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765800" y="2590800"/>
            <a:ext cx="1168400" cy="406400"/>
          </a:xfrm>
          <a:prstGeom prst="roundRect">
            <a:avLst>
              <a:gd name="adj" fmla="val 50000"/>
            </a:avLst>
          </a:prstGeom>
          <a:solidFill>
            <a:srgbClr val="FFE3E3"/>
          </a:solidFill>
          <a:ln w="12700">
            <a:solidFill>
              <a:srgbClr val="FF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59690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D40000"/>
                </a:solidFill>
                <a:latin typeface="Geist"/>
              </a:rPr>
              <a:t>block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086600" y="2590800"/>
            <a:ext cx="1320800" cy="406400"/>
          </a:xfrm>
          <a:prstGeom prst="roundRect">
            <a:avLst>
              <a:gd name="adj" fmla="val 50000"/>
            </a:avLst>
          </a:prstGeom>
          <a:solidFill>
            <a:srgbClr val="FFEFCF"/>
          </a:solidFill>
          <a:ln w="12700">
            <a:solidFill>
              <a:srgbClr val="FFE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7366000" y="2667635"/>
            <a:ext cx="76200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A96500"/>
                </a:solidFill>
                <a:latin typeface="Geist"/>
              </a:rPr>
              <a:t>pending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83600" y="2794000"/>
            <a:ext cx="228600" cy="0"/>
          </a:xfrm>
          <a:prstGeom prst="line">
            <a:avLst/>
          </a:prstGeom>
          <a:ln w="2032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8763000" y="2590800"/>
            <a:ext cx="1397000" cy="4064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1" name="Picture 80" descr="user-check--4d4d4d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77300" y="2705100"/>
            <a:ext cx="177800" cy="1778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131300" y="2678620"/>
            <a:ext cx="126771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717"/>
                </a:solidFill>
                <a:latin typeface="Geist"/>
              </a:rPr>
              <a:t>human 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33000" y="2489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9747250" y="24098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029200" y="3022600"/>
            <a:ext cx="0" cy="5588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092200" y="3581400"/>
            <a:ext cx="3937000" cy="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92200" y="3276600"/>
            <a:ext cx="0" cy="304800"/>
          </a:xfrm>
          <a:prstGeom prst="line">
            <a:avLst/>
          </a:prstGeom>
          <a:ln w="22860">
            <a:solidFill>
              <a:srgbClr val="0E8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350000" y="3022600"/>
            <a:ext cx="0" cy="7874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397000" y="3810000"/>
            <a:ext cx="4953000" cy="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397000" y="3276600"/>
            <a:ext cx="0" cy="533400"/>
          </a:xfrm>
          <a:prstGeom prst="line">
            <a:avLst/>
          </a:prstGeom>
          <a:ln w="27940">
            <a:solidFill>
              <a:srgbClr val="D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747000" y="3022600"/>
            <a:ext cx="0" cy="10160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787400" y="4038600"/>
            <a:ext cx="6959600" cy="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787400" y="3276600"/>
            <a:ext cx="0" cy="762000"/>
          </a:xfrm>
          <a:prstGeom prst="line">
            <a:avLst/>
          </a:prstGeom>
          <a:ln w="22860">
            <a:solidFill>
              <a:srgbClr val="A96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8128000" y="3327400"/>
            <a:ext cx="4419600" cy="109220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8280400" y="34315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18600" y="3438842"/>
            <a:ext cx="3803142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717"/>
                </a:solidFill>
                <a:latin typeface="Geist"/>
              </a:rPr>
              <a:t>the tool runs; its result returns normally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80400" y="37363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40000"/>
                </a:solidFill>
                <a:latin typeface="Geist"/>
              </a:rPr>
              <a:t>block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18600" y="3743642"/>
            <a:ext cx="3531489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717"/>
                </a:solidFill>
                <a:latin typeface="Geist"/>
              </a:rPr>
              <a:t>the tool never runs — a refusal returns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80400" y="4041140"/>
            <a:ext cx="7620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96500"/>
                </a:solidFill>
                <a:latin typeface="Geist"/>
              </a:rPr>
              <a:t>pending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18600" y="4048442"/>
            <a:ext cx="362204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717"/>
                </a:solidFill>
                <a:latin typeface="Geist"/>
              </a:rPr>
              <a:t>the turn suspends until a person decides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18600" y="3896042"/>
            <a:ext cx="2263775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1717"/>
                </a:solidFill>
                <a:latin typeface="Geist"/>
              </a:rPr>
              <a:t>where a tool result would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2400" y="4440238"/>
            <a:ext cx="123031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The refusal arrives in-band — which is why a blocked agent explains itself and continues the conversation instead of failing.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52400" y="4800600"/>
            <a:ext cx="2374900" cy="11684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4" name="Picture 103" descr="chart-line--4d4d4d.25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400" y="4927600"/>
            <a:ext cx="177800" cy="1778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33400" y="4897438"/>
            <a:ext cx="21653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Behavioural monitoring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4800" y="5198745"/>
            <a:ext cx="2078736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profile · sliding window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4800" y="5401945"/>
            <a:ext cx="2338578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IForest · HST · Mahalanobis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4800" y="5605145"/>
            <a:ext cx="2771648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ADWIN drift · conformal p-values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654300" y="4800600"/>
            <a:ext cx="2374900" cy="11684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0" name="Picture 109" descr="hand-stop--4d4d4d.25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81300" y="4927600"/>
            <a:ext cx="177800" cy="17780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3035300" y="4897438"/>
            <a:ext cx="21653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Containment &amp; recovery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06700" y="5198745"/>
            <a:ext cx="2511806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kill switch (violation count)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806700" y="5401945"/>
            <a:ext cx="242519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budget guard · effect outbox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06700" y="5605145"/>
            <a:ext cx="225196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snapshot → saga → rollback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156200" y="4800600"/>
            <a:ext cx="2374900" cy="11684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6" name="Picture 115" descr="shield-half--4d4d4d.25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3200" y="4927600"/>
            <a:ext cx="177800" cy="17780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5537200" y="4897438"/>
            <a:ext cx="9842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Pre-deploy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308600" y="5198745"/>
            <a:ext cx="225196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repo scan · 53 OWASP rules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308600" y="5401945"/>
            <a:ext cx="2511806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same policy packs, statically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8600" y="5605145"/>
            <a:ext cx="199212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code shield · scan diff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658100" y="4800600"/>
            <a:ext cx="2374900" cy="11684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2" name="Picture 121" descr="plug-connected--4d4d4d.25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85100" y="4927600"/>
            <a:ext cx="177800" cy="17780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8039100" y="4897438"/>
            <a:ext cx="20669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Connectors &amp; fallback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810500" y="5198745"/>
            <a:ext cx="242519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SIEM · OTLP · webhooks · SSO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810500" y="5401945"/>
            <a:ext cx="268503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fail open | closed · disk queue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10500" y="5605145"/>
            <a:ext cx="2511806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offline model · AEGIS_OFFLINE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160000" y="4800600"/>
            <a:ext cx="2374900" cy="11684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" name="Picture 127" descr="lock-check--4d4d4d.25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87000" y="4927600"/>
            <a:ext cx="177800" cy="1778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0541000" y="4897438"/>
            <a:ext cx="16732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Audit &amp; integrity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312400" y="5198745"/>
            <a:ext cx="2338578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Ed25519 per-agent signature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312400" y="5401945"/>
            <a:ext cx="242519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SHA-256 chain → Merkle → log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312400" y="5605145"/>
            <a:ext cx="242519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"/>
              </a:rPr>
              <a:t>witnesses · offline verifier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2230100" y="48768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 w="12700">
            <a:solidFill>
              <a:srgbClr val="17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1944350" y="4797425"/>
            <a:ext cx="7620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ist"/>
              </a:rPr>
              <a:t>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10261600" y="1219200"/>
            <a:ext cx="23622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2623800" y="1219200"/>
            <a:ext cx="0" cy="416560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2573000" y="5384800"/>
            <a:ext cx="50800" cy="0"/>
          </a:xfrm>
          <a:prstGeom prst="line">
            <a:avLst/>
          </a:prstGeom>
          <a:ln w="15240">
            <a:solidFill>
              <a:srgbClr val="8A8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10337800" y="989648"/>
            <a:ext cx="1818894" cy="2880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A8A8A"/>
                </a:solidFill>
                <a:latin typeface="Geist"/>
              </a:rPr>
              <a:t>every decision, signed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52400" y="6047740"/>
            <a:ext cx="217322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Where an attendee acts: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413000" y="6047740"/>
            <a:ext cx="17952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1  drives the agent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445000" y="6047740"/>
            <a:ext cx="311810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2  approves or blocks a held call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543800" y="6047740"/>
            <a:ext cx="47244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Geist"/>
              </a:rPr>
              <a:t>3  tampers with the signed log, verification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