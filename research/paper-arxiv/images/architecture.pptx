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700000" cy="5969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" y="508000"/>
            <a:ext cx="1879600" cy="2768600"/>
          </a:xfrm>
          <a:prstGeom prst="roundRect">
            <a:avLst>
              <a:gd name="adj" fmla="val 8108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04800" y="504825"/>
            <a:ext cx="76200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475569"/>
                </a:solidFill>
                <a:latin typeface="Helvetica Neue"/>
              </a:rPr>
              <a:t>Agent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914400"/>
            <a:ext cx="1574800" cy="431800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robot--334155.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1041400"/>
            <a:ext cx="177800" cy="177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3100" y="999871"/>
            <a:ext cx="762000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Helvetica Neue"/>
              </a:rPr>
              <a:t>LLM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0200" y="1432242"/>
            <a:ext cx="1720469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64748B"/>
                </a:solidFill>
                <a:latin typeface="Helvetica Neue"/>
              </a:rPr>
              <a:t>untrusted principal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4800" y="1752600"/>
            <a:ext cx="1574800" cy="7112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A8D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plug-connected--15795a.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0" y="1879600"/>
            <a:ext cx="177800" cy="177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1849438"/>
            <a:ext cx="885825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5795A"/>
                </a:solidFill>
                <a:latin typeface="Helvetica Neue"/>
              </a:rPr>
              <a:t>two lines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000" y="2179066"/>
            <a:ext cx="1445666" cy="2962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80" b="0" i="0">
                <a:solidFill>
                  <a:srgbClr val="334155"/>
                </a:solidFill>
                <a:latin typeface="Menlo"/>
              </a:rPr>
              <a:t>agentguard.auto()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0200" y="2567940"/>
            <a:ext cx="1228344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Helvetica Neue"/>
              </a:rPr>
              <a:t>14 frameworks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0200" y="2803842"/>
            <a:ext cx="1448816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Helvetica Neue"/>
              </a:rPr>
              <a:t>Python · JS · Go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01800" y="58420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6D3FBF"/>
          </a:solidFill>
          <a:ln w="12700">
            <a:solidFill>
              <a:srgbClr val="6D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416050" y="504825"/>
            <a:ext cx="76200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82800" y="1270000"/>
            <a:ext cx="177800" cy="0"/>
          </a:xfrm>
          <a:prstGeom prst="line">
            <a:avLst/>
          </a:prstGeom>
          <a:ln w="2032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336800" y="508000"/>
            <a:ext cx="7874000" cy="2768600"/>
          </a:xfrm>
          <a:prstGeom prst="roundRect">
            <a:avLst>
              <a:gd name="adj" fmla="val 5504"/>
            </a:avLst>
          </a:prstGeom>
          <a:solidFill>
            <a:srgbClr val="FBFCFE"/>
          </a:solidFill>
          <a:ln w="12700">
            <a:solidFill>
              <a:srgbClr val="B8C4D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540000" y="589915"/>
            <a:ext cx="1740154" cy="4663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F2937"/>
                </a:solidFill>
                <a:latin typeface="Helvetica Neue"/>
              </a:rPr>
              <a:t>Aegis Gateway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0000" y="891540"/>
            <a:ext cx="226771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Helvetica Neue"/>
              </a:rPr>
              <a:t>the call has not run yet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40000" y="1219200"/>
            <a:ext cx="1778000" cy="1219200"/>
          </a:xfrm>
          <a:prstGeom prst="roundRect">
            <a:avLst>
              <a:gd name="adj" fmla="val 12500"/>
            </a:avLst>
          </a:prstGeom>
          <a:solidFill>
            <a:srgbClr val="EEF2FB"/>
          </a:solidFill>
          <a:ln w="12700">
            <a:solidFill>
              <a:srgbClr val="AEC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regex--2f4fa8.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7000" y="1320800"/>
            <a:ext cx="190500" cy="1905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946400" y="1308735"/>
            <a:ext cx="921258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F4FA8"/>
                </a:solidFill>
                <a:latin typeface="Helvetica Neue"/>
              </a:rPr>
              <a:t>L1  rules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4300" y="1676400"/>
            <a:ext cx="1549400" cy="3048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930970" y="1711642"/>
            <a:ext cx="996061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Menlo"/>
              </a:rPr>
              <a:t>call string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2400" y="2118042"/>
            <a:ext cx="7620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Helvetica Neue"/>
              </a:rPr>
              <a:t>&lt;1 ms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330700" y="1828800"/>
            <a:ext cx="127000" cy="0"/>
          </a:xfrm>
          <a:prstGeom prst="line">
            <a:avLst/>
          </a:prstGeom>
          <a:ln w="2032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470400" y="1219200"/>
            <a:ext cx="1778000" cy="1219200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binary-tree--475569.25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7400" y="1320800"/>
            <a:ext cx="190500" cy="1905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876800" y="1308735"/>
            <a:ext cx="1433068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475569"/>
                </a:solidFill>
                <a:latin typeface="Helvetica Neue"/>
              </a:rPr>
              <a:t>L2  classifier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84700" y="1676400"/>
            <a:ext cx="1549400" cy="3048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861370" y="1711642"/>
            <a:ext cx="996061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Menlo"/>
              </a:rPr>
              <a:t>15 features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22800" y="2118042"/>
            <a:ext cx="7620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Helvetica Neue"/>
              </a:rPr>
              <a:t>&lt;10 ms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261100" y="1828800"/>
            <a:ext cx="127000" cy="0"/>
          </a:xfrm>
          <a:prstGeom prst="line">
            <a:avLst/>
          </a:prstGeom>
          <a:ln w="2032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400800" y="1219200"/>
            <a:ext cx="1778000" cy="1219200"/>
          </a:xfrm>
          <a:prstGeom prst="roundRect">
            <a:avLst>
              <a:gd name="adj" fmla="val 12500"/>
            </a:avLst>
          </a:prstGeom>
          <a:solidFill>
            <a:srgbClr val="F3EEFB"/>
          </a:solidFill>
          <a:ln w="12700">
            <a:solidFill>
              <a:srgbClr val="C7B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bulb--6d3fbf.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7800" y="1320800"/>
            <a:ext cx="190500" cy="1905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807200" y="1308735"/>
            <a:ext cx="921258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6D3FBF"/>
                </a:solidFill>
                <a:latin typeface="Helvetica Neue"/>
              </a:rPr>
              <a:t>L3  judge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15100" y="1676400"/>
            <a:ext cx="1549400" cy="3048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746494" y="1711642"/>
            <a:ext cx="1086612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Menlo"/>
              </a:rPr>
              <a:t>full context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3200" y="2118042"/>
            <a:ext cx="7620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Helvetica Neue"/>
              </a:rPr>
              <a:t>1–2 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191500" y="1828800"/>
            <a:ext cx="127000" cy="0"/>
          </a:xfrm>
          <a:prstGeom prst="line">
            <a:avLst/>
          </a:prstGeom>
          <a:ln w="2032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8331200" y="1219200"/>
            <a:ext cx="1778000" cy="1219200"/>
          </a:xfrm>
          <a:prstGeom prst="roundRect">
            <a:avLst>
              <a:gd name="adj" fmla="val 12500"/>
            </a:avLst>
          </a:prstGeom>
          <a:solidFill>
            <a:srgbClr val="EAF6F0"/>
          </a:solidFill>
          <a:ln w="12700">
            <a:solidFill>
              <a:srgbClr val="A8D8C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route--15795a.25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58200" y="1320800"/>
            <a:ext cx="190500" cy="1905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737600" y="1308735"/>
            <a:ext cx="1433068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5795A"/>
                </a:solidFill>
                <a:latin typeface="Helvetica Neue"/>
              </a:rPr>
              <a:t>Lp  provenance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445500" y="1676400"/>
            <a:ext cx="1549400" cy="3048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631618" y="1711642"/>
            <a:ext cx="1177163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Menlo"/>
              </a:rPr>
              <a:t>channel split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83600" y="2118042"/>
            <a:ext cx="1448816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Helvetica Neue"/>
              </a:rPr>
              <a:t>&lt;1 ms · optional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40000" y="2578735"/>
            <a:ext cx="818896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Helvetica Neue"/>
              </a:rPr>
              <a:t>decision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505200" y="2590800"/>
            <a:ext cx="1168400" cy="40640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 w="12700">
            <a:solidFill>
              <a:srgbClr val="DCF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3708400" y="2667635"/>
            <a:ext cx="762000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16A34A"/>
                </a:solidFill>
                <a:latin typeface="Helvetica Neue"/>
              </a:rPr>
              <a:t>allow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826000" y="2590800"/>
            <a:ext cx="1168400" cy="406400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 w="12700">
            <a:solidFill>
              <a:srgbClr val="FE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5029200" y="2667635"/>
            <a:ext cx="762000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Helvetica Neue"/>
              </a:rPr>
              <a:t>block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46800" y="2590800"/>
            <a:ext cx="1320800" cy="40640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 w="12700">
            <a:solidFill>
              <a:srgbClr val="FEF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426200" y="2667635"/>
            <a:ext cx="762000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D97706"/>
                </a:solidFill>
                <a:latin typeface="Helvetica Neue"/>
              </a:rPr>
              <a:t>pending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43800" y="2794000"/>
            <a:ext cx="254000" cy="0"/>
          </a:xfrm>
          <a:prstGeom prst="line">
            <a:avLst/>
          </a:prstGeom>
          <a:ln w="2032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7874000" y="2590800"/>
            <a:ext cx="2133600" cy="406400"/>
          </a:xfrm>
          <a:prstGeom prst="roundRect">
            <a:avLst>
              <a:gd name="adj" fmla="val 21875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6" name="Picture 55" descr="user-check--334155.25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88300" y="2705100"/>
            <a:ext cx="177800" cy="1778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8242300" y="2668588"/>
            <a:ext cx="1377950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Helvetica Neue"/>
              </a:rPr>
              <a:t>human approval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804400" y="264160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6D3FBF"/>
          </a:solidFill>
          <a:ln w="12700">
            <a:solidFill>
              <a:srgbClr val="6D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9518650" y="2562225"/>
            <a:ext cx="76200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089400" y="3022600"/>
            <a:ext cx="0" cy="787400"/>
          </a:xfrm>
          <a:prstGeom prst="line">
            <a:avLst/>
          </a:prstGeom>
          <a:ln w="2286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1092200" y="3810000"/>
            <a:ext cx="2997200" cy="0"/>
          </a:xfrm>
          <a:prstGeom prst="line">
            <a:avLst/>
          </a:prstGeom>
          <a:ln w="2286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092200" y="3327400"/>
            <a:ext cx="0" cy="482600"/>
          </a:xfrm>
          <a:prstGeom prst="line">
            <a:avLst/>
          </a:prstGeom>
          <a:ln w="2286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5410200" y="3022600"/>
            <a:ext cx="0" cy="1066800"/>
          </a:xfrm>
          <a:prstGeom prst="line">
            <a:avLst/>
          </a:prstGeom>
          <a:ln w="2794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1397000" y="4089400"/>
            <a:ext cx="4013200" cy="0"/>
          </a:xfrm>
          <a:prstGeom prst="line">
            <a:avLst/>
          </a:prstGeom>
          <a:ln w="2794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1397000" y="3327400"/>
            <a:ext cx="0" cy="762000"/>
          </a:xfrm>
          <a:prstGeom prst="line">
            <a:avLst/>
          </a:prstGeom>
          <a:ln w="2794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6807200" y="3022600"/>
            <a:ext cx="0" cy="1346200"/>
          </a:xfrm>
          <a:prstGeom prst="line">
            <a:avLst/>
          </a:prstGeom>
          <a:ln w="2286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787400" y="4368800"/>
            <a:ext cx="6019800" cy="0"/>
          </a:xfrm>
          <a:prstGeom prst="line">
            <a:avLst/>
          </a:prstGeom>
          <a:ln w="2286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787400" y="3327400"/>
            <a:ext cx="0" cy="1041400"/>
          </a:xfrm>
          <a:prstGeom prst="line">
            <a:avLst/>
          </a:prstGeom>
          <a:ln w="2286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7670800" y="3505200"/>
            <a:ext cx="4876800" cy="12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7848600" y="3660140"/>
            <a:ext cx="76200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6A34A"/>
                </a:solidFill>
                <a:latin typeface="Helvetica Neue"/>
              </a:rPr>
              <a:t>allow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763000" y="3660140"/>
            <a:ext cx="3968496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Helvetica Neue"/>
              </a:rPr>
              <a:t>the tool runs; its result returns normally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48600" y="3990340"/>
            <a:ext cx="76200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C2626"/>
                </a:solidFill>
                <a:latin typeface="Helvetica Neue"/>
              </a:rPr>
              <a:t>block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763000" y="3990340"/>
            <a:ext cx="368503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Helvetica Neue"/>
              </a:rPr>
              <a:t>the tool never runs — a refusal returns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48600" y="4320540"/>
            <a:ext cx="76200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Helvetica Neue"/>
              </a:rPr>
              <a:t>pending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763000" y="4320540"/>
            <a:ext cx="377952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Helvetica Neue"/>
              </a:rPr>
              <a:t>the turn suspends until a person decides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763000" y="4155440"/>
            <a:ext cx="236220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Helvetica Neue"/>
              </a:rPr>
              <a:t>where a tool result would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52400" y="4940935"/>
            <a:ext cx="9007856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5795A"/>
                </a:solidFill>
                <a:latin typeface="Helvetica Neue"/>
              </a:rPr>
              <a:t>The refusal arrives in-band — which is why a blocked agent explains itself and continues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2400" y="5169535"/>
            <a:ext cx="3685032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5795A"/>
                </a:solidFill>
                <a:latin typeface="Helvetica Neue"/>
              </a:rPr>
              <a:t>the conversation instead of failing.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10261600" y="1270000"/>
            <a:ext cx="25400" cy="0"/>
          </a:xfrm>
          <a:prstGeom prst="line">
            <a:avLst/>
          </a:prstGeom>
          <a:ln w="1778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10363200" y="508000"/>
            <a:ext cx="2184400" cy="1473200"/>
          </a:xfrm>
          <a:prstGeom prst="roundRect">
            <a:avLst>
              <a:gd name="adj" fmla="val 10344"/>
            </a:avLst>
          </a:prstGeom>
          <a:solidFill>
            <a:srgbClr val="FDF1E7"/>
          </a:solidFill>
          <a:ln w="12700">
            <a:solidFill>
              <a:srgbClr val="F0C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10515600" y="534035"/>
            <a:ext cx="1433068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A85F12"/>
                </a:solidFill>
                <a:latin typeface="Helvetica Neue"/>
              </a:rPr>
              <a:t>Tamper-evident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490200" y="889000"/>
            <a:ext cx="1930400" cy="38100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3" name="Picture 82" descr="lock-check--334155.25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4500" y="990600"/>
            <a:ext cx="177800" cy="177800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0858500" y="959104"/>
            <a:ext cx="76200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Helvetica Neue"/>
              </a:rPr>
              <a:t>Ed25519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0490200" y="1371600"/>
            <a:ext cx="1930400" cy="355600"/>
          </a:xfrm>
          <a:prstGeom prst="roundRect">
            <a:avLst>
              <a:gd name="adj" fmla="val 17857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10591800" y="1434020"/>
            <a:ext cx="1177163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334155"/>
                </a:solidFill>
                <a:latin typeface="Menlo"/>
              </a:rPr>
              <a:t>SHA-256 chain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2242800" y="58420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6D3FBF"/>
          </a:solidFill>
          <a:ln w="12700">
            <a:solidFill>
              <a:srgbClr val="6D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11957050" y="504825"/>
            <a:ext cx="76200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0363200" y="2133600"/>
            <a:ext cx="2184400" cy="1143000"/>
          </a:xfrm>
          <a:prstGeom prst="roundRect">
            <a:avLst>
              <a:gd name="adj" fmla="val 13333"/>
            </a:avLst>
          </a:prstGeom>
          <a:solidFill>
            <a:srgbClr val="EEF2FB"/>
          </a:solidFill>
          <a:ln w="12700">
            <a:solidFill>
              <a:srgbClr val="AEC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10515600" y="2159635"/>
            <a:ext cx="762000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F4FA8"/>
                </a:solidFill>
                <a:latin typeface="Helvetica Neue"/>
              </a:rPr>
              <a:t>Cockpit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0490200" y="2489200"/>
            <a:ext cx="1930400" cy="38100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2" name="Picture 91" descr="layout-dashboard--334155.25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4500" y="2590800"/>
            <a:ext cx="177800" cy="177800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0858500" y="2559304"/>
            <a:ext cx="85039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Helvetica Neue"/>
              </a:rPr>
              <a:t>live feed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515600" y="2930842"/>
            <a:ext cx="1629918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Helvetica Neue"/>
              </a:rPr>
              <a:t>approvals · export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52400" y="5565140"/>
            <a:ext cx="2173224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Helvetica Neue"/>
              </a:rPr>
              <a:t>Where an attendee acts: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89200" y="5565140"/>
            <a:ext cx="179527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Helvetica Neue"/>
              </a:rPr>
              <a:t>1  drives the agent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521200" y="5565140"/>
            <a:ext cx="3118104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Helvetica Neue"/>
              </a:rPr>
              <a:t>2  approves or blocks a held call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620000" y="5565140"/>
            <a:ext cx="472440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Helvetica Neue"/>
              </a:rPr>
              <a:t>3  tampers with the signed log, verification fails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