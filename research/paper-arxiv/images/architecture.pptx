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96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508000"/>
            <a:ext cx="1879600" cy="2768600"/>
          </a:xfrm>
          <a:prstGeom prst="roundRect">
            <a:avLst>
              <a:gd name="adj" fmla="val 8108"/>
            </a:avLst>
          </a:prstGeom>
          <a:solidFill>
            <a:srgbClr val="FAFAFA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Helvetica Neue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914400"/>
            <a:ext cx="1574800" cy="4318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4d4d4d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0414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999871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717"/>
                </a:solidFill>
                <a:latin typeface="Helvetica Neue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200" y="1432242"/>
            <a:ext cx="172046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D4D4D"/>
                </a:solidFill>
                <a:latin typeface="Helvetica Neue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752600"/>
            <a:ext cx="1574800" cy="7112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3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lug-connected--0070f3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8796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849438"/>
            <a:ext cx="8858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70F3"/>
                </a:solidFill>
                <a:latin typeface="Helvetica Neue"/>
              </a:rPr>
              <a:t>two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79066"/>
            <a:ext cx="1445666" cy="2962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4D4D4D"/>
                </a:solidFill>
                <a:latin typeface="Menlo"/>
              </a:rPr>
              <a:t>agentguard.auto()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" y="2567940"/>
            <a:ext cx="12283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Helvetica Neue"/>
              </a:rPr>
              <a:t>14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" y="28038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8A8A"/>
                </a:solidFill>
                <a:latin typeface="Helvetica Neue"/>
              </a:rPr>
              <a:t>Python · JS ·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1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16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82800" y="1270000"/>
            <a:ext cx="1778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6800" y="508000"/>
            <a:ext cx="7874000" cy="2768600"/>
          </a:xfrm>
          <a:prstGeom prst="roundRect">
            <a:avLst>
              <a:gd name="adj" fmla="val 5504"/>
            </a:avLst>
          </a:prstGeom>
          <a:solidFill>
            <a:srgbClr val="FAFAFA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40000" y="589915"/>
            <a:ext cx="1740154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717"/>
                </a:solidFill>
                <a:latin typeface="Helvetica Neue"/>
              </a:rPr>
              <a:t>Aegis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000" y="891540"/>
            <a:ext cx="2267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D4D4D"/>
                </a:solidFill>
                <a:latin typeface="Helvetica Neue"/>
              </a:rPr>
              <a:t>the call has not run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egex--171717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132080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464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L1 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43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309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Menlo"/>
              </a:rPr>
              <a:t>call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24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Helvetica Neue"/>
              </a:rPr>
              <a:t>&lt;1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307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704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binary-tree--171717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132080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68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L2  classifier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47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613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Menlo"/>
              </a:rPr>
              <a:t>15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8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Helvetica Neue"/>
              </a:rPr>
              <a:t>&lt;10 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611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ulb--171717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7800" y="1320800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072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L3  judge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46494" y="1711642"/>
            <a:ext cx="1086612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Menlo"/>
              </a:rPr>
              <a:t>full context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32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Helvetica Neue"/>
              </a:rPr>
              <a:t>1–2 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915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312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3E5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route--0070f3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1320800"/>
            <a:ext cx="190500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376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0F3"/>
                </a:solidFill>
                <a:latin typeface="Helvetica Neue"/>
              </a:rPr>
              <a:t>Lp  provenance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455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31618" y="17116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Menlo"/>
              </a:rPr>
              <a:t>channel split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21180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70F3"/>
                </a:solidFill>
                <a:latin typeface="Helvetica Neue"/>
              </a:rPr>
              <a:t>&lt;1 ms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40000" y="2578735"/>
            <a:ext cx="81889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decision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052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D7F2E7"/>
          </a:solidFill>
          <a:ln w="12700">
            <a:solidFill>
              <a:srgbClr val="D7F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7084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8A5F"/>
                </a:solidFill>
                <a:latin typeface="Helvetica Neue"/>
              </a:rPr>
              <a:t>allow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260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FFE3E3"/>
          </a:solidFill>
          <a:ln w="12700">
            <a:solidFill>
              <a:srgbClr val="FF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40000"/>
                </a:solidFill>
                <a:latin typeface="Helvetica Neue"/>
              </a:rPr>
              <a:t>block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6800" y="2590800"/>
            <a:ext cx="1320800" cy="406400"/>
          </a:xfrm>
          <a:prstGeom prst="roundRect">
            <a:avLst>
              <a:gd name="adj" fmla="val 50000"/>
            </a:avLst>
          </a:prstGeom>
          <a:solidFill>
            <a:srgbClr val="FFEFCF"/>
          </a:solidFill>
          <a:ln w="12700">
            <a:solidFill>
              <a:srgbClr val="FFE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26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96500"/>
                </a:solidFill>
                <a:latin typeface="Helvetica Neue"/>
              </a:rPr>
              <a:t>pending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43800" y="2794000"/>
            <a:ext cx="254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874000" y="2590800"/>
            <a:ext cx="2133600" cy="4064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user-check--4d4d4d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8300" y="2705100"/>
            <a:ext cx="177800" cy="177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242300" y="2668588"/>
            <a:ext cx="13779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Helvetica Neue"/>
              </a:rPr>
              <a:t>human approval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04400" y="2641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18650" y="25622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89400" y="3022600"/>
            <a:ext cx="0" cy="7874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92200" y="3810000"/>
            <a:ext cx="2997200" cy="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92200" y="3327400"/>
            <a:ext cx="0" cy="4826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410200" y="3022600"/>
            <a:ext cx="0" cy="10668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397000" y="4089400"/>
            <a:ext cx="4013200" cy="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97000" y="3327400"/>
            <a:ext cx="0" cy="7620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07200" y="3022600"/>
            <a:ext cx="0" cy="13462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787400" y="4368800"/>
            <a:ext cx="6019800" cy="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87400" y="3327400"/>
            <a:ext cx="0" cy="10414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70800" y="3505200"/>
            <a:ext cx="4876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848600" y="36601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8A5F"/>
                </a:solidFill>
                <a:latin typeface="Helvetica Neue"/>
              </a:rPr>
              <a:t>allow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63000" y="3660140"/>
            <a:ext cx="396849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the tool runs; its result returns normally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39903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40000"/>
                </a:solidFill>
                <a:latin typeface="Helvetica Neue"/>
              </a:rPr>
              <a:t>block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63000" y="3990340"/>
            <a:ext cx="368503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the tool never runs — a refusal returns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48600" y="43205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6500"/>
                </a:solidFill>
                <a:latin typeface="Helvetica Neue"/>
              </a:rPr>
              <a:t>pending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0" y="43205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the turn suspends until a person decides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3000" y="4155440"/>
            <a:ext cx="2362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where a tool result would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400" y="4940935"/>
            <a:ext cx="900785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The refusal arrives in-band — which is why a blocked agent explains itself and continues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400" y="5169535"/>
            <a:ext cx="36850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the conversation instead of failing.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261600" y="1270000"/>
            <a:ext cx="25400" cy="0"/>
          </a:xfrm>
          <a:prstGeom prst="line">
            <a:avLst/>
          </a:prstGeom>
          <a:ln w="1778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363200" y="508000"/>
            <a:ext cx="2184400" cy="1473200"/>
          </a:xfrm>
          <a:prstGeom prst="roundRect">
            <a:avLst>
              <a:gd name="adj" fmla="val 10344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515600" y="5340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Tamper-evident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90200" y="8890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lock-check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4500" y="990600"/>
            <a:ext cx="177800" cy="1778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58500" y="959104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Ed25519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490200" y="1371600"/>
            <a:ext cx="19304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0591800" y="1434020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Menlo"/>
              </a:rPr>
              <a:t>SHA-256 chain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242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1957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363200" y="2133600"/>
            <a:ext cx="21844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515600" y="2159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Helvetica Neue"/>
              </a:rPr>
              <a:t>Cockpit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90200" y="24892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2" name="Picture 91" descr="layout-dashboard--4d4d4d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4500" y="2590800"/>
            <a:ext cx="177800" cy="1778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858500" y="2559304"/>
            <a:ext cx="8503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Helvetica Neue"/>
              </a:rPr>
              <a:t>live feed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15600" y="2930842"/>
            <a:ext cx="162991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Helvetica Neue"/>
              </a:rPr>
              <a:t>approvals · export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2400" y="5565140"/>
            <a:ext cx="217322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Helvetica Neue"/>
              </a:rPr>
              <a:t>Where an attendee acts: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89200" y="5565140"/>
            <a:ext cx="17952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Helvetica Neue"/>
              </a:rPr>
              <a:t>1  drives the agent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21200" y="5565140"/>
            <a:ext cx="311810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Helvetica Neue"/>
              </a:rPr>
              <a:t>2  approves or blocks a held call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20000" y="5565140"/>
            <a:ext cx="47244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Helvetica Neue"/>
              </a:rPr>
              <a:t>3  tampers with the signed log, verification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