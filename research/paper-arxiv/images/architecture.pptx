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700000" cy="444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" y="177800"/>
            <a:ext cx="1905000" cy="2717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04800" y="2257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475569"/>
                </a:solidFill>
                <a:latin typeface="Helvetica Neue"/>
              </a:rPr>
              <a:t>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533400"/>
            <a:ext cx="1600200" cy="38100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obot--334155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35000"/>
            <a:ext cx="177800" cy="17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100" y="633603"/>
            <a:ext cx="762000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Helvetica Neue"/>
              </a:rPr>
              <a:t>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006602"/>
            <a:ext cx="1137006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1">
                <a:solidFill>
                  <a:srgbClr val="64748B"/>
                </a:solidFill>
                <a:latin typeface="Helvetica Neue"/>
              </a:rPr>
              <a:t>untrusted principal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800" y="1219200"/>
            <a:ext cx="1600200" cy="38100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ool--334155.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1320800"/>
            <a:ext cx="177800" cy="177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3100" y="1319403"/>
            <a:ext cx="762000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Helvetica Neue"/>
              </a:rPr>
              <a:t>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1692402"/>
            <a:ext cx="1496060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0">
                <a:solidFill>
                  <a:srgbClr val="64748B"/>
                </a:solidFill>
                <a:latin typeface="Helvetica Neue"/>
              </a:rPr>
              <a:t>DB · shell · files · HTTP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" y="1930400"/>
            <a:ext cx="1600200" cy="787400"/>
          </a:xfrm>
          <a:prstGeom prst="roundRect">
            <a:avLst>
              <a:gd name="adj" fmla="val 8064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31800" y="2025523"/>
            <a:ext cx="762000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334155"/>
                </a:solidFill>
                <a:latin typeface="Menlo"/>
              </a:rPr>
              <a:t>tool_use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800" y="2203323"/>
            <a:ext cx="1281887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334155"/>
                </a:solidFill>
                <a:latin typeface="Menlo"/>
              </a:rPr>
              <a:t>  name: "execute_sql",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800" y="2381123"/>
            <a:ext cx="932282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334155"/>
                </a:solidFill>
                <a:latin typeface="Menlo"/>
              </a:rPr>
              <a:t>  arguments: {…}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" y="3013202"/>
            <a:ext cx="1914957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0">
                <a:solidFill>
                  <a:srgbClr val="64748B"/>
                </a:solidFill>
                <a:latin typeface="Helvetica Neue"/>
              </a:rPr>
              <a:t>14 frameworks · Python / JS / Go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4800" y="3225800"/>
            <a:ext cx="1600200" cy="279400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06400" y="3275203"/>
            <a:ext cx="1204722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34155"/>
                </a:solidFill>
                <a:latin typeface="Menlo"/>
              </a:rPr>
              <a:t>agentguard.auto()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82800" y="1524000"/>
            <a:ext cx="330200" cy="0"/>
          </a:xfrm>
          <a:prstGeom prst="line">
            <a:avLst/>
          </a:prstGeom>
          <a:ln w="2032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66900" y="1317244"/>
            <a:ext cx="762000" cy="197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20" b="0" i="0">
                <a:solidFill>
                  <a:srgbClr val="64748B"/>
                </a:solidFill>
                <a:latin typeface="Helvetica Neue"/>
              </a:rPr>
              <a:t>tool_use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63800" y="177800"/>
            <a:ext cx="7569200" cy="3327400"/>
          </a:xfrm>
          <a:prstGeom prst="roundRect">
            <a:avLst>
              <a:gd name="adj" fmla="val 4580"/>
            </a:avLst>
          </a:prstGeom>
          <a:solidFill>
            <a:srgbClr val="FBFCFE"/>
          </a:solidFill>
          <a:ln w="12700">
            <a:solidFill>
              <a:srgbClr val="B8C4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641600" y="263842"/>
            <a:ext cx="1177163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937"/>
                </a:solidFill>
                <a:latin typeface="Helvetica Neue"/>
              </a:rPr>
              <a:t>Aegis Gateway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41600" y="505460"/>
            <a:ext cx="31496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Helvetica Neue"/>
              </a:rPr>
              <a:t>pre-execution mediation — the call has not run yet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16200" y="787400"/>
            <a:ext cx="1676400" cy="1600200"/>
          </a:xfrm>
          <a:prstGeom prst="roundRect">
            <a:avLst>
              <a:gd name="adj" fmla="val 9523"/>
            </a:avLst>
          </a:prstGeom>
          <a:solidFill>
            <a:srgbClr val="EEF2FB"/>
          </a:solidFill>
          <a:ln w="12700">
            <a:solidFill>
              <a:srgbClr val="AEC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regex--2f4fa8.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889000"/>
            <a:ext cx="190500" cy="19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022600" y="902652"/>
            <a:ext cx="897636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2F4FA8"/>
                </a:solidFill>
                <a:latin typeface="Helvetica Neue"/>
              </a:rPr>
              <a:t>L1  patterns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17800" y="1193800"/>
            <a:ext cx="1473200" cy="2286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794000" y="1250823"/>
            <a:ext cx="990549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1F2937"/>
                </a:solidFill>
                <a:latin typeface="Menlo"/>
              </a:rPr>
              <a:t>sees: call string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1511681"/>
            <a:ext cx="1105510" cy="2139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64748B"/>
                </a:solidFill>
                <a:latin typeface="Helvetica Neue"/>
              </a:rPr>
              <a:t>22 patterns, &lt;1 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17800" y="1752600"/>
            <a:ext cx="1473200" cy="25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824480" y="1813560"/>
            <a:ext cx="125984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DC2626"/>
                </a:solidFill>
                <a:latin typeface="Helvetica Neue"/>
              </a:rPr>
              <a:t>0.4% of real attacks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0400" y="787400"/>
            <a:ext cx="1676400" cy="1600200"/>
          </a:xfrm>
          <a:prstGeom prst="roundRect">
            <a:avLst>
              <a:gd name="adj" fmla="val 9523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binary-tree--475569.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7400" y="889000"/>
            <a:ext cx="190500" cy="1905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876800" y="902652"/>
            <a:ext cx="1047242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475569"/>
                </a:solidFill>
                <a:latin typeface="Helvetica Neue"/>
              </a:rPr>
              <a:t>L2  classifier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1193800"/>
            <a:ext cx="1473200" cy="2286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648200" y="1250823"/>
            <a:ext cx="990549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1F2937"/>
                </a:solidFill>
                <a:latin typeface="Menlo"/>
              </a:rPr>
              <a:t>sees: 15 features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7400" y="1511681"/>
            <a:ext cx="1044092" cy="2139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64748B"/>
                </a:solidFill>
                <a:latin typeface="Helvetica Neue"/>
              </a:rPr>
              <a:t>XGBoost / IForest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0" y="1752600"/>
            <a:ext cx="1473200" cy="25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927600" y="1813560"/>
            <a:ext cx="762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64748B"/>
                </a:solidFill>
                <a:latin typeface="Helvetica Neue"/>
              </a:rPr>
              <a:t>surface only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24600" y="787400"/>
            <a:ext cx="1676400" cy="1600200"/>
          </a:xfrm>
          <a:prstGeom prst="roundRect">
            <a:avLst>
              <a:gd name="adj" fmla="val 9523"/>
            </a:avLst>
          </a:prstGeom>
          <a:solidFill>
            <a:srgbClr val="EAF6F0"/>
          </a:solidFill>
          <a:ln w="12700">
            <a:solidFill>
              <a:srgbClr val="A8D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route--15795a.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1600" y="889000"/>
            <a:ext cx="190500" cy="1905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31000" y="902652"/>
            <a:ext cx="1047242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5795A"/>
                </a:solidFill>
                <a:latin typeface="Helvetica Neue"/>
              </a:rPr>
              <a:t>Lp  provenance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26200" y="1193800"/>
            <a:ext cx="1473200" cy="2286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502400" y="1250823"/>
            <a:ext cx="1107084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1F2937"/>
                </a:solidFill>
                <a:latin typeface="Menlo"/>
              </a:rPr>
              <a:t>sees: channel split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51600" y="1511681"/>
            <a:ext cx="1044092" cy="2139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64748B"/>
                </a:solidFill>
                <a:latin typeface="Helvetica Neue"/>
              </a:rPr>
              <a:t>6 features, &lt;1 ms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26200" y="1752600"/>
            <a:ext cx="1473200" cy="25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781800" y="1813560"/>
            <a:ext cx="762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6A34A"/>
                </a:solidFill>
                <a:latin typeface="Helvetica Neue"/>
              </a:rPr>
              <a:t>AUC 0.991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78800" y="787400"/>
            <a:ext cx="1676400" cy="1600200"/>
          </a:xfrm>
          <a:prstGeom prst="roundRect">
            <a:avLst>
              <a:gd name="adj" fmla="val 9523"/>
            </a:avLst>
          </a:prstGeom>
          <a:solidFill>
            <a:srgbClr val="F3EEFB"/>
          </a:solidFill>
          <a:ln w="12700">
            <a:solidFill>
              <a:srgbClr val="C7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bulb--6d3fbf.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5800" y="889000"/>
            <a:ext cx="190500" cy="1905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585200" y="902652"/>
            <a:ext cx="762000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6D3FBF"/>
                </a:solidFill>
                <a:latin typeface="Helvetica Neue"/>
              </a:rPr>
              <a:t>L3  judge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80400" y="1193800"/>
            <a:ext cx="1473200" cy="2286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356600" y="1250823"/>
            <a:ext cx="1048817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1F2937"/>
                </a:solidFill>
                <a:latin typeface="Menlo"/>
              </a:rPr>
              <a:t>sees: full context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05800" y="1511681"/>
            <a:ext cx="859841" cy="2139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64748B"/>
                </a:solidFill>
                <a:latin typeface="Helvetica Neue"/>
              </a:rPr>
              <a:t>frontier model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280400" y="1752600"/>
            <a:ext cx="1473200" cy="25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387080" y="1813560"/>
            <a:ext cx="125984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D97706"/>
                </a:solidFill>
                <a:latin typeface="Helvetica Neue"/>
              </a:rPr>
              <a:t>0.851 bal.acc, 2.3 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16200" y="2431923"/>
            <a:ext cx="3262986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1">
                <a:solidFill>
                  <a:srgbClr val="94A3B8"/>
                </a:solidFill>
                <a:latin typeface="Helvetica Neue"/>
              </a:rPr>
              <a:t>measured on real agent traffic (the instantiated corpus)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292600" y="1549400"/>
            <a:ext cx="177800" cy="0"/>
          </a:xfrm>
          <a:prstGeom prst="line">
            <a:avLst/>
          </a:prstGeom>
          <a:ln w="2032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46800" y="1549400"/>
            <a:ext cx="177800" cy="0"/>
          </a:xfrm>
          <a:prstGeom prst="line">
            <a:avLst/>
          </a:prstGeom>
          <a:ln w="2032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001000" y="1549400"/>
            <a:ext cx="177800" cy="0"/>
          </a:xfrm>
          <a:prstGeom prst="line">
            <a:avLst/>
          </a:prstGeom>
          <a:ln w="2032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2641600" y="2600960"/>
            <a:ext cx="762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  <a:latin typeface="Helvetica Neue"/>
              </a:rPr>
              <a:t>decision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616200" y="2819400"/>
            <a:ext cx="939800" cy="27940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2705100" y="2873820"/>
            <a:ext cx="7620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6A34A"/>
                </a:solidFill>
                <a:latin typeface="Helvetica Neue"/>
              </a:rPr>
              <a:t>allow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657600" y="2819400"/>
            <a:ext cx="939800" cy="27940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12700">
            <a:solidFill>
              <a:srgbClr val="FE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3746500" y="2873820"/>
            <a:ext cx="7620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DC2626"/>
                </a:solidFill>
                <a:latin typeface="Helvetica Neue"/>
              </a:rPr>
              <a:t>block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699000" y="2819400"/>
            <a:ext cx="1143000" cy="27940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889500" y="2873820"/>
            <a:ext cx="7620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D97706"/>
                </a:solidFill>
                <a:latin typeface="Helvetica Neue"/>
              </a:rPr>
              <a:t>pending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67400" y="2959100"/>
            <a:ext cx="304800" cy="0"/>
          </a:xfrm>
          <a:prstGeom prst="line">
            <a:avLst/>
          </a:prstGeom>
          <a:ln w="2032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248400" y="2768600"/>
            <a:ext cx="2032000" cy="38100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9" name="Picture 68" descr="user-check--334155.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700" y="2870200"/>
            <a:ext cx="177800" cy="1778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616700" y="2873820"/>
            <a:ext cx="1405509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Helvetica Neue"/>
              </a:rPr>
              <a:t>human review, 1 click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83600" y="2886202"/>
            <a:ext cx="897636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1">
                <a:solidFill>
                  <a:srgbClr val="64748B"/>
                </a:solidFill>
                <a:latin typeface="Helvetica Neue"/>
              </a:rPr>
              <a:t>agent suspended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185400" y="177800"/>
            <a:ext cx="2362200" cy="1651000"/>
          </a:xfrm>
          <a:prstGeom prst="roundRect">
            <a:avLst>
              <a:gd name="adj" fmla="val 9230"/>
            </a:avLst>
          </a:prstGeom>
          <a:solidFill>
            <a:srgbClr val="FDF1E7"/>
          </a:solidFill>
          <a:ln w="12700">
            <a:solidFill>
              <a:srgbClr val="F0C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0337800" y="247650"/>
            <a:ext cx="1574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85F12"/>
                </a:solidFill>
                <a:latin typeface="Helvetica Neue"/>
              </a:rPr>
              <a:t>Tamper-evident audit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312400" y="558800"/>
            <a:ext cx="2108200" cy="330200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5" name="Picture 74" descr="lock-check--334155.25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26700" y="635000"/>
            <a:ext cx="177800" cy="177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680700" y="638620"/>
            <a:ext cx="1137793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Helvetica Neue"/>
              </a:rPr>
              <a:t>Ed25519 signature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312400" y="965200"/>
            <a:ext cx="2108200" cy="330200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database--334155.25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26700" y="1041400"/>
            <a:ext cx="177800" cy="1778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680700" y="1045020"/>
            <a:ext cx="1204722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Helvetica Neue"/>
              </a:rPr>
              <a:t>SHA-256 hash chain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312400" y="1371600"/>
            <a:ext cx="2108200" cy="304800"/>
          </a:xfrm>
          <a:prstGeom prst="roundRect">
            <a:avLst>
              <a:gd name="adj" fmla="val 20833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10414000" y="1455776"/>
            <a:ext cx="1338580" cy="1865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80" b="0" i="0">
                <a:solidFill>
                  <a:srgbClr val="334155"/>
                </a:solidFill>
                <a:latin typeface="Menlo"/>
              </a:rPr>
              <a:t>H(t) = SHA256(d ‖ H(t-1))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185400" y="1930400"/>
            <a:ext cx="2362200" cy="1574800"/>
          </a:xfrm>
          <a:prstGeom prst="roundRect">
            <a:avLst>
              <a:gd name="adj" fmla="val 9677"/>
            </a:avLst>
          </a:prstGeom>
          <a:solidFill>
            <a:srgbClr val="EEF2FB"/>
          </a:solidFill>
          <a:ln w="12700">
            <a:solidFill>
              <a:srgbClr val="AEC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10337800" y="2000250"/>
            <a:ext cx="1417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4FA8"/>
                </a:solidFill>
                <a:latin typeface="Helvetica Neue"/>
              </a:rPr>
              <a:t>Compliance Cockpit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12400" y="2197481"/>
            <a:ext cx="2026768" cy="2139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64748B"/>
                </a:solidFill>
                <a:latin typeface="Helvetica Neue"/>
              </a:rPr>
              <a:t>live feed · approvals · anomalies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12400" y="2375281"/>
            <a:ext cx="1781099" cy="2139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64748B"/>
                </a:solidFill>
                <a:latin typeface="Helvetica Neue"/>
              </a:rPr>
              <a:t>violations · costs · sessions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312400" y="2616200"/>
            <a:ext cx="2108200" cy="330200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7" name="Picture 86" descr="file-export--334155.25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26700" y="2692400"/>
            <a:ext cx="177800" cy="17780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0680700" y="2696020"/>
            <a:ext cx="1070864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Helvetica Neue"/>
              </a:rPr>
              <a:t>PDF / CSV export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12400" y="3092323"/>
            <a:ext cx="1981098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1">
                <a:solidFill>
                  <a:srgbClr val="94A3B8"/>
                </a:solidFill>
                <a:latin typeface="Helvetica Neue"/>
              </a:rPr>
              <a:t>every decision, signed and chained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31400" y="2540000"/>
            <a:ext cx="228600" cy="0"/>
          </a:xfrm>
          <a:prstGeom prst="line">
            <a:avLst/>
          </a:prstGeom>
          <a:ln w="2032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9664700" y="2336165"/>
            <a:ext cx="7620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64748B"/>
                </a:solidFill>
                <a:latin typeface="Helvetica Neue"/>
              </a:rPr>
              <a:t>log trace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2400" y="3708400"/>
            <a:ext cx="12395200" cy="609600"/>
          </a:xfrm>
          <a:prstGeom prst="roundRect">
            <a:avLst>
              <a:gd name="adj" fmla="val 18750"/>
            </a:avLst>
          </a:prstGeom>
          <a:solidFill>
            <a:srgbClr val="EAF6F0"/>
          </a:solidFill>
          <a:ln w="12700">
            <a:solidFill>
              <a:srgbClr val="A8D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3" name="Picture 92" descr="shield-half--15795a.25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0200" y="3860800"/>
            <a:ext cx="203200" cy="20320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35000" y="3798252"/>
            <a:ext cx="7480300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5795A"/>
                </a:solidFill>
                <a:latin typeface="Helvetica Neue"/>
              </a:rPr>
              <a:t>The layers differ in what they may observe, not only in cost — and that is what decides the outcome.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5000" y="4014597"/>
            <a:ext cx="12324385" cy="2359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60" b="0" i="0">
                <a:solidFill>
                  <a:srgbClr val="0F5B44"/>
                </a:solidFill>
                <a:latin typeface="Helvetica Neue"/>
              </a:rPr>
              <a:t>A successful indirect injection emits a syntactically ordinary call, so L1 and L2 have nothing to inspect. Lp recovers the signal at L1 cost by asking which turn authorised the call.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