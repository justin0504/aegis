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350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" y="49530"/>
            <a:ext cx="121259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Geist"/>
              </a:rPr>
              <a:t>as recorded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3200" y="78740"/>
            <a:ext cx="406298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each trace commits to the previous hash, H′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314642"/>
            <a:ext cx="507085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 Mono"/>
              </a:rPr>
              <a:t>chain heads → Merkle root → transparency log → witnesses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" y="6096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66700" y="6445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t−2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" y="911543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" y="11020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8600" y="990600"/>
            <a:ext cx="2032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27200" y="6096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41500" y="6445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t−1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500" y="911543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500" y="11020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73400" y="990600"/>
            <a:ext cx="2032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02000" y="6096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16300" y="6445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6300" y="911543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6300" y="11020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48200" y="990600"/>
            <a:ext cx="2032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76800" y="6096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91100" y="6445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t+1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1100" y="911543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1100" y="11020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pic>
        <p:nvPicPr>
          <p:cNvPr id="24" name="Picture 23" descr="circle-check--0e8a5f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473200"/>
            <a:ext cx="165100" cy="165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2600" y="14376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8A5F"/>
                </a:solidFill>
                <a:latin typeface="Geist"/>
              </a:rPr>
              <a:t>ok</a:t>
            </a:r>
          </a:p>
        </p:txBody>
      </p:sp>
      <p:pic>
        <p:nvPicPr>
          <p:cNvPr id="26" name="Picture 25" descr="circle-check--0e8a5f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1473200"/>
            <a:ext cx="165100" cy="165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57400" y="14376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8A5F"/>
                </a:solidFill>
                <a:latin typeface="Geist"/>
              </a:rPr>
              <a:t>ok</a:t>
            </a:r>
          </a:p>
        </p:txBody>
      </p:sp>
      <p:pic>
        <p:nvPicPr>
          <p:cNvPr id="28" name="Picture 27" descr="circle-check--0e8a5f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0" y="1473200"/>
            <a:ext cx="165100" cy="1651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32200" y="14376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8A5F"/>
                </a:solidFill>
                <a:latin typeface="Geist"/>
              </a:rPr>
              <a:t>ok</a:t>
            </a:r>
          </a:p>
        </p:txBody>
      </p:sp>
      <p:pic>
        <p:nvPicPr>
          <p:cNvPr id="30" name="Picture 29" descr="circle-check--0e8a5f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1473200"/>
            <a:ext cx="165100" cy="1651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07000" y="14376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8A5F"/>
                </a:solidFill>
                <a:latin typeface="Geist"/>
              </a:rPr>
              <a:t>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1854200"/>
            <a:ext cx="6045200" cy="1270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52400" y="1954530"/>
            <a:ext cx="3307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Geist"/>
              </a:rPr>
              <a:t>after one field of t is edited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8800" y="1983740"/>
            <a:ext cx="33070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in the exported log, by an attendee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2400" y="23114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66700" y="23463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t−2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700" y="2613342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700" y="28038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98600" y="2692400"/>
            <a:ext cx="2032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727200" y="23114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841500" y="23463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t−1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41500" y="2613342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41500" y="28038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073400" y="2692400"/>
            <a:ext cx="2032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302000" y="23114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416300" y="23463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6300" y="2613342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6300" y="28038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40000"/>
                </a:solidFill>
                <a:latin typeface="Geist Mono"/>
              </a:rPr>
              <a:t>H=SHA256(d‖H′)</a:t>
            </a:r>
          </a:p>
        </p:txBody>
      </p:sp>
      <p:pic>
        <p:nvPicPr>
          <p:cNvPr id="49" name="Picture 48" descr="pencil--d40000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00300"/>
            <a:ext cx="177800" cy="177800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4648200" y="2692400"/>
            <a:ext cx="203200" cy="0"/>
          </a:xfrm>
          <a:prstGeom prst="line">
            <a:avLst/>
          </a:prstGeom>
          <a:ln w="2032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876800" y="2311400"/>
            <a:ext cx="1320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991100" y="23463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t+1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91100" y="2613342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sig  Ed25519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91100" y="28038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H=SHA256(d‖H′)</a:t>
            </a:r>
          </a:p>
        </p:txBody>
      </p:sp>
      <p:pic>
        <p:nvPicPr>
          <p:cNvPr id="55" name="Picture 54" descr="circle-check--0e8a5f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3175000"/>
            <a:ext cx="165100" cy="1651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82600" y="31394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8A5F"/>
                </a:solidFill>
                <a:latin typeface="Geist"/>
              </a:rPr>
              <a:t>ok</a:t>
            </a:r>
          </a:p>
        </p:txBody>
      </p:sp>
      <p:pic>
        <p:nvPicPr>
          <p:cNvPr id="57" name="Picture 56" descr="circle-check--0e8a5f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3175000"/>
            <a:ext cx="165100" cy="1651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057400" y="31394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8A5F"/>
                </a:solidFill>
                <a:latin typeface="Geist"/>
              </a:rPr>
              <a:t>ok</a:t>
            </a:r>
          </a:p>
        </p:txBody>
      </p:sp>
      <p:pic>
        <p:nvPicPr>
          <p:cNvPr id="59" name="Picture 58" descr="circle-x--d40000.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300" y="3175000"/>
            <a:ext cx="165100" cy="1651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632200" y="31394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0000"/>
                </a:solidFill>
                <a:latin typeface="Geist"/>
              </a:rPr>
              <a:t>FAIL</a:t>
            </a:r>
          </a:p>
        </p:txBody>
      </p:sp>
      <p:pic>
        <p:nvPicPr>
          <p:cNvPr id="61" name="Picture 60" descr="circle-x--d40000.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3175000"/>
            <a:ext cx="165100" cy="1651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207000" y="31394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0000"/>
                </a:solidFill>
                <a:latin typeface="Geist"/>
              </a:rPr>
              <a:t>FAIL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3482340"/>
            <a:ext cx="774801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40000"/>
                </a:solidFill>
                <a:latin typeface="Geist"/>
              </a:rPr>
              <a:t>verify: FAIL from t — t’s content hash no longer matches, so t+1’s link breaks too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