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700000" cy="546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" y="177800"/>
            <a:ext cx="4064000" cy="51308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30200" y="288925"/>
            <a:ext cx="177165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S1  benign call</a:t>
            </a:r>
          </a:p>
        </p:txBody>
      </p:sp>
      <p:pic>
        <p:nvPicPr>
          <p:cNvPr id="4" name="Picture 3" descr="keyboard--171717.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400" y="330200"/>
            <a:ext cx="190500" cy="1905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04800" y="635000"/>
            <a:ext cx="3759200" cy="431800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6400" y="746442"/>
            <a:ext cx="4074795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171717"/>
                </a:solidFill>
                <a:latin typeface="Geist"/>
              </a:rPr>
              <a:t>“summarise the feedback in the reviews table”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800" y="177800"/>
            <a:ext cx="4064000" cy="51308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46600" y="288925"/>
            <a:ext cx="188976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S2  interception</a:t>
            </a:r>
          </a:p>
        </p:txBody>
      </p:sp>
      <p:pic>
        <p:nvPicPr>
          <p:cNvPr id="9" name="Picture 8" descr="keyboard--171717.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800" y="330200"/>
            <a:ext cx="190500" cy="1905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21200" y="635000"/>
            <a:ext cx="3759200" cy="431800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2800" y="746442"/>
            <a:ext cx="4255897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171717"/>
                </a:solidFill>
                <a:latin typeface="Geist"/>
              </a:rPr>
              <a:t>attendee submits input carrying a SQL injection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85200" y="177800"/>
            <a:ext cx="4064000" cy="51308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BEB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763000" y="288925"/>
            <a:ext cx="212598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717"/>
                </a:solidFill>
                <a:latin typeface="Geist"/>
              </a:rPr>
              <a:t>S3  human approval</a:t>
            </a:r>
          </a:p>
        </p:txBody>
      </p:sp>
      <p:pic>
        <p:nvPicPr>
          <p:cNvPr id="14" name="Picture 13" descr="keyboard--171717.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8200" y="330200"/>
            <a:ext cx="190500" cy="190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737600" y="635000"/>
            <a:ext cx="3759200" cy="431800"/>
          </a:xfrm>
          <a:prstGeom prst="roundRect">
            <a:avLst>
              <a:gd name="adj" fmla="val 14705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839200" y="746442"/>
            <a:ext cx="3259836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171717"/>
                </a:solidFill>
                <a:latin typeface="Geist"/>
              </a:rPr>
              <a:t>attendee asks for kubectl delete pod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4800" y="1193800"/>
            <a:ext cx="3759200" cy="355600"/>
          </a:xfrm>
          <a:prstGeom prst="roundRect">
            <a:avLst>
              <a:gd name="adj" fmla="val 17857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06400" y="1256220"/>
            <a:ext cx="2716530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query_database(sql="SELECT …")</a:t>
            </a:r>
          </a:p>
        </p:txBody>
      </p:sp>
      <p:pic>
        <p:nvPicPr>
          <p:cNvPr id="19" name="Picture 18" descr="circle-check--0e8a5f.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1803400"/>
            <a:ext cx="165100" cy="1651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6100" y="1771586"/>
            <a:ext cx="762000" cy="2606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0E8A5F"/>
                </a:solidFill>
                <a:latin typeface="Geist"/>
              </a:rPr>
              <a:t>allow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4800" y="2108200"/>
            <a:ext cx="3759200" cy="1168400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672590" y="2236470"/>
            <a:ext cx="1023620" cy="713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0E8A5F"/>
                </a:solidFill>
                <a:latin typeface="Geist"/>
              </a:rPr>
              <a:t>~1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8496" y="2694940"/>
            <a:ext cx="151180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4D4D4D"/>
                </a:solidFill>
                <a:latin typeface="Geist"/>
              </a:rPr>
              <a:t>decision 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931" y="2956242"/>
            <a:ext cx="3440938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4D4D4D"/>
                </a:solidFill>
                <a:latin typeface="Geist"/>
              </a:rPr>
              <a:t>the turn completes at its normal speed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200" y="3525838"/>
            <a:ext cx="226377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71717"/>
                </a:solidFill>
                <a:latin typeface="Geist"/>
              </a:rPr>
              <a:t>Shown first on purpose.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200" y="3787140"/>
            <a:ext cx="3212592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1717"/>
                </a:solidFill>
                <a:latin typeface="Geist"/>
              </a:rPr>
              <a:t>A firewall only ever seen blocking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200" y="4003040"/>
            <a:ext cx="3496056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1717"/>
                </a:solidFill>
                <a:latin typeface="Geist"/>
              </a:rPr>
              <a:t>says nothing about what it costs when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0200" y="4218940"/>
            <a:ext cx="377952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1717"/>
                </a:solidFill>
                <a:latin typeface="Geist"/>
              </a:rPr>
              <a:t>nothing is wrong — which is the standard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0200" y="4434840"/>
            <a:ext cx="3496056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1717"/>
                </a:solidFill>
                <a:latin typeface="Geist"/>
              </a:rPr>
              <a:t>objection to sitting in the hot path.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1200" y="1193800"/>
            <a:ext cx="3759200" cy="355600"/>
          </a:xfrm>
          <a:prstGeom prst="roundRect">
            <a:avLst>
              <a:gd name="adj" fmla="val 17857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622800" y="1261237"/>
            <a:ext cx="2858262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D4D4D"/>
                </a:solidFill>
                <a:latin typeface="Geist Mono"/>
              </a:rPr>
              <a:t>sql="…; DROP TABLE audit_log; --"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1200" y="1651000"/>
            <a:ext cx="3759200" cy="2565400"/>
          </a:xfrm>
          <a:prstGeom prst="roundRect">
            <a:avLst>
              <a:gd name="adj" fmla="val 3465"/>
            </a:avLst>
          </a:prstGeom>
          <a:solidFill>
            <a:srgbClr val="FFFFFF"/>
          </a:solidFill>
          <a:ln w="20320">
            <a:solidFill>
              <a:srgbClr val="D4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blockdemo-in-testagent.0.00-0.02-1.00-0.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300" y="1689100"/>
            <a:ext cx="3683000" cy="2489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46600" y="4233545"/>
            <a:ext cx="3551174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D4D4D"/>
                </a:solidFill>
                <a:latin typeface="Geist"/>
              </a:rPr>
              <a:t>the agent's own conversation, unretouched</a:t>
            </a:r>
          </a:p>
        </p:txBody>
      </p:sp>
      <p:pic>
        <p:nvPicPr>
          <p:cNvPr id="35" name="Picture 34" descr="circle-x--d40000.25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600" y="4648200"/>
            <a:ext cx="165100" cy="1651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62500" y="4616386"/>
            <a:ext cx="1421257" cy="2606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40000"/>
                </a:solidFill>
                <a:latin typeface="Geist"/>
              </a:rPr>
              <a:t>block at L1, 6.2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6600" y="4879340"/>
            <a:ext cx="387400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1717"/>
                </a:solidFill>
                <a:latin typeface="Geist"/>
              </a:rPr>
              <a:t>The refusal returns in-band, so the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6600" y="5082540"/>
            <a:ext cx="3590544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1717"/>
                </a:solidFill>
                <a:latin typeface="Geist"/>
              </a:rPr>
              <a:t>explains it and offers an alternative.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37600" y="1193800"/>
            <a:ext cx="3759200" cy="355600"/>
          </a:xfrm>
          <a:prstGeom prst="roundRect">
            <a:avLst>
              <a:gd name="adj" fmla="val 17857"/>
            </a:avLst>
          </a:prstGeom>
          <a:solidFill>
            <a:srgbClr val="FAFAFA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839200" y="1256220"/>
            <a:ext cx="2173224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 Mono"/>
              </a:rPr>
              <a:t>policy: require_approval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37600" y="1651000"/>
            <a:ext cx="3759200" cy="1295400"/>
          </a:xfrm>
          <a:prstGeom prst="roundRect">
            <a:avLst>
              <a:gd name="adj" fmla="val 6862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pending.0.56-0.20-1.00-0.4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700" y="1689100"/>
            <a:ext cx="3683000" cy="12192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763000" y="2963545"/>
            <a:ext cx="3724402" cy="3017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D4D4D"/>
                </a:solidFill>
                <a:latin typeface="Geist"/>
              </a:rPr>
              <a:t>the held call — a second person presses one</a:t>
            </a:r>
          </a:p>
        </p:txBody>
      </p:sp>
      <p:pic>
        <p:nvPicPr>
          <p:cNvPr id="44" name="Picture 43" descr="hand-stop--a96500.25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0" y="3276600"/>
            <a:ext cx="190500" cy="1905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042400" y="3259138"/>
            <a:ext cx="27559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A96500"/>
                </a:solidFill>
                <a:latin typeface="Geist"/>
              </a:rPr>
              <a:t>pending — the agent suspends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37600" y="3606800"/>
            <a:ext cx="3759200" cy="787400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" name="Picture 46" descr="users--4d4d4d.25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4600" y="3733800"/>
            <a:ext cx="190500" cy="1905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69400" y="3716338"/>
            <a:ext cx="246062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71717"/>
                </a:solidFill>
                <a:latin typeface="Geist"/>
              </a:rPr>
              <a:t>a second attendee decides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4600" y="4048442"/>
            <a:ext cx="3078734" cy="3154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4D4D4D"/>
                </a:solidFill>
                <a:latin typeface="Geist"/>
              </a:rPr>
              <a:t>agent resumes within one 2 s cycle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63000" y="4498340"/>
            <a:ext cx="283464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1717"/>
                </a:solidFill>
                <a:latin typeface="Geist"/>
              </a:rPr>
              <a:t>Passing a decision between two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63000" y="4701540"/>
            <a:ext cx="3212592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1717"/>
                </a:solidFill>
                <a:latin typeface="Geist"/>
              </a:rPr>
              <a:t>people is the part that is hard 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63000" y="4904740"/>
            <a:ext cx="283464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71717"/>
                </a:solidFill>
                <a:latin typeface="Geist"/>
              </a:rPr>
              <a:t>paper and immediate in person.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