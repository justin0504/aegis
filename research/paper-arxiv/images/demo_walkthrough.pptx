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5029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177800"/>
            <a:ext cx="4064000" cy="4673600"/>
          </a:xfrm>
          <a:prstGeom prst="roundRect">
            <a:avLst>
              <a:gd name="adj" fmla="val 3750"/>
            </a:avLst>
          </a:prstGeom>
          <a:solidFill>
            <a:srgbClr val="EAF6F0"/>
          </a:solidFill>
          <a:ln w="12700">
            <a:solidFill>
              <a:srgbClr val="A8D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04800" y="271145"/>
            <a:ext cx="1299210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5795A"/>
                </a:solidFill>
                <a:latin typeface="Helvetica Neue"/>
              </a:rPr>
              <a:t>S1  benign call</a:t>
            </a:r>
          </a:p>
        </p:txBody>
      </p:sp>
      <p:pic>
        <p:nvPicPr>
          <p:cNvPr id="4" name="Picture 3" descr="keyboard--15795a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0800" y="279400"/>
            <a:ext cx="177800" cy="177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79400" y="533400"/>
            <a:ext cx="3810000" cy="33020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638302"/>
            <a:ext cx="2692908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1">
                <a:solidFill>
                  <a:srgbClr val="1F2937"/>
                </a:solidFill>
                <a:latin typeface="Helvetica Neue"/>
              </a:rPr>
              <a:t>“summarise the feedback in the reviews table”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800" y="177800"/>
            <a:ext cx="4064000" cy="4673600"/>
          </a:xfrm>
          <a:prstGeom prst="roundRect">
            <a:avLst>
              <a:gd name="adj" fmla="val 3750"/>
            </a:avLst>
          </a:prstGeom>
          <a:solidFill>
            <a:srgbClr val="FDF1E7"/>
          </a:solidFill>
          <a:ln w="12700">
            <a:solidFill>
              <a:srgbClr val="F0C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21200" y="271145"/>
            <a:ext cx="1385824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85F12"/>
                </a:solidFill>
                <a:latin typeface="Helvetica Neue"/>
              </a:rPr>
              <a:t>S2  interception</a:t>
            </a:r>
          </a:p>
        </p:txBody>
      </p:sp>
      <p:pic>
        <p:nvPicPr>
          <p:cNvPr id="9" name="Picture 8" descr="keyboard--a85f12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279400"/>
            <a:ext cx="177800" cy="177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495800" y="533400"/>
            <a:ext cx="3810000" cy="33020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97400" y="638302"/>
            <a:ext cx="2812593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1">
                <a:solidFill>
                  <a:srgbClr val="1F2937"/>
                </a:solidFill>
                <a:latin typeface="Helvetica Neue"/>
              </a:rPr>
              <a:t>attendee submits input carrying a SQL injection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85200" y="177800"/>
            <a:ext cx="4064000" cy="4673600"/>
          </a:xfrm>
          <a:prstGeom prst="roundRect">
            <a:avLst>
              <a:gd name="adj" fmla="val 3750"/>
            </a:avLst>
          </a:prstGeom>
          <a:solidFill>
            <a:srgbClr val="F3EEFB"/>
          </a:solidFill>
          <a:ln w="12700">
            <a:solidFill>
              <a:srgbClr val="C7B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37600" y="271145"/>
            <a:ext cx="155905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D3FBF"/>
                </a:solidFill>
                <a:latin typeface="Helvetica Neue"/>
              </a:rPr>
              <a:t>S3  human approval</a:t>
            </a:r>
          </a:p>
        </p:txBody>
      </p:sp>
      <p:pic>
        <p:nvPicPr>
          <p:cNvPr id="14" name="Picture 13" descr="keyboard--6d3fbf.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3600" y="279400"/>
            <a:ext cx="177800" cy="177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712200" y="533400"/>
            <a:ext cx="3810000" cy="33020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13800" y="638302"/>
            <a:ext cx="2154326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1">
                <a:solidFill>
                  <a:srgbClr val="1F2937"/>
                </a:solidFill>
                <a:latin typeface="Helvetica Neue"/>
              </a:rPr>
              <a:t>attendee asks for kubectl delete pod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9400" y="965200"/>
            <a:ext cx="3810000" cy="279400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81000" y="1032662"/>
            <a:ext cx="1700784" cy="197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0" b="0" i="0">
                <a:solidFill>
                  <a:srgbClr val="334155"/>
                </a:solidFill>
                <a:latin typeface="Menlo"/>
              </a:rPr>
              <a:t>query_database(sql="SELECT …")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9400" y="1320800"/>
            <a:ext cx="3810000" cy="14732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session.0.11-0.09-1.00-0.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" y="1358900"/>
            <a:ext cx="3733800" cy="1397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79400" y="2863723"/>
            <a:ext cx="1689760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1">
                <a:solidFill>
                  <a:srgbClr val="64748B"/>
                </a:solidFill>
                <a:latin typeface="Helvetica Neue"/>
              </a:rPr>
              <a:t>live feed, risk signals, cost</a:t>
            </a:r>
          </a:p>
        </p:txBody>
      </p:sp>
      <p:pic>
        <p:nvPicPr>
          <p:cNvPr id="22" name="Picture 21" descr="circle-check--16a34a.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3200400"/>
            <a:ext cx="165100" cy="1651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20700" y="3168586"/>
            <a:ext cx="762000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6A34A"/>
                </a:solidFill>
                <a:latin typeface="Helvetica Neue"/>
              </a:rPr>
              <a:t>allow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9400" y="3454400"/>
            <a:ext cx="3810000" cy="5588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clock--64748b.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3556000"/>
            <a:ext cx="165100" cy="1651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5000" y="3573018"/>
            <a:ext cx="1455115" cy="230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40" b="0" i="0">
                <a:solidFill>
                  <a:srgbClr val="1F2937"/>
                </a:solidFill>
                <a:latin typeface="Helvetica Neue"/>
              </a:rPr>
              <a:t>~1 ms decision latency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000" y="3803523"/>
            <a:ext cx="2214169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4748B"/>
                </a:solidFill>
                <a:latin typeface="Helvetica Neue"/>
              </a:rPr>
              <a:t>the turn completes at its normal speed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400" y="4156202"/>
            <a:ext cx="2633066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15795A"/>
                </a:solidFill>
                <a:latin typeface="Helvetica Neue"/>
              </a:rPr>
              <a:t>Shown first on purpose: a firewall only ever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9400" y="4308602"/>
            <a:ext cx="2453538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15795A"/>
                </a:solidFill>
                <a:latin typeface="Helvetica Neue"/>
              </a:rPr>
              <a:t>seen blocking says nothing about its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400" y="4461002"/>
            <a:ext cx="1316533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15795A"/>
                </a:solidFill>
                <a:latin typeface="Helvetica Neue"/>
              </a:rPr>
              <a:t>when nothing is wrong.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95800" y="965200"/>
            <a:ext cx="3810000" cy="279400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597400" y="1040689"/>
            <a:ext cx="2166925" cy="1755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640" b="0" i="0">
                <a:solidFill>
                  <a:srgbClr val="334155"/>
                </a:solidFill>
                <a:latin typeface="Menlo"/>
              </a:rPr>
              <a:t>sql="SELECT * … ; DROP TABLE audit_log; --"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95800" y="1320800"/>
            <a:ext cx="3810000" cy="190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blockdemo-in-testagent.0.00-0.02-1.00-0.6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3900" y="1358900"/>
            <a:ext cx="373380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495800" y="3295523"/>
            <a:ext cx="2388972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1">
                <a:solidFill>
                  <a:srgbClr val="64748B"/>
                </a:solidFill>
                <a:latin typeface="Helvetica Neue"/>
              </a:rPr>
              <a:t>the agent's own conversation, unretouched</a:t>
            </a:r>
          </a:p>
        </p:txBody>
      </p:sp>
      <p:pic>
        <p:nvPicPr>
          <p:cNvPr id="36" name="Picture 35" descr="circle-x--dc2626.25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1200" y="3606800"/>
            <a:ext cx="165100" cy="1651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737100" y="3574986"/>
            <a:ext cx="1421257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C2626"/>
                </a:solidFill>
                <a:latin typeface="Helvetica Neue"/>
              </a:rPr>
              <a:t>block at L1, 6.2 ms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95800" y="3835400"/>
            <a:ext cx="3810000" cy="762000"/>
          </a:xfrm>
          <a:prstGeom prst="roundRect">
            <a:avLst>
              <a:gd name="adj" fmla="val 10000"/>
            </a:avLst>
          </a:prstGeom>
          <a:solidFill>
            <a:srgbClr val="FDF1E7"/>
          </a:solidFill>
          <a:ln w="12700">
            <a:solidFill>
              <a:srgbClr val="F0C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97400" y="3915918"/>
            <a:ext cx="2447239" cy="230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A85F12"/>
                </a:solidFill>
                <a:latin typeface="Helvetica Neue"/>
              </a:rPr>
              <a:t>The agent is not broken by the block.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7400" y="4105402"/>
            <a:ext cx="2692908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A85F12"/>
                </a:solidFill>
                <a:latin typeface="Helvetica Neue"/>
              </a:rPr>
              <a:t>The refusal returns in-band as a tool result,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7400" y="4257802"/>
            <a:ext cx="2513381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A85F12"/>
                </a:solidFill>
                <a:latin typeface="Helvetica Neue"/>
              </a:rPr>
              <a:t>so the model explains what was blocked 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7400" y="4410202"/>
            <a:ext cx="1555902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A85F12"/>
                </a:solidFill>
                <a:latin typeface="Helvetica Neue"/>
              </a:rPr>
              <a:t>offers a safe alternative.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12200" y="965200"/>
            <a:ext cx="3810000" cy="279400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13800" y="1032662"/>
            <a:ext cx="1360627" cy="197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20" b="0" i="0">
                <a:solidFill>
                  <a:srgbClr val="334155"/>
                </a:solidFill>
                <a:latin typeface="Menlo"/>
              </a:rPr>
              <a:t>policy: require_approval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12200" y="1320800"/>
            <a:ext cx="3810000" cy="14732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pending.0.11-0.15-1.00-0.7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50300" y="1358900"/>
            <a:ext cx="3733800" cy="1397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12200" y="2863723"/>
            <a:ext cx="2214169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1">
                <a:solidFill>
                  <a:srgbClr val="64748B"/>
                </a:solidFill>
                <a:latin typeface="Helvetica Neue"/>
              </a:rPr>
              <a:t>approval queue, full arguments visible</a:t>
            </a:r>
          </a:p>
        </p:txBody>
      </p:sp>
      <p:pic>
        <p:nvPicPr>
          <p:cNvPr id="48" name="Picture 47" descr="hand-stop--d97706.25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37600" y="3175000"/>
            <a:ext cx="165100" cy="1651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991600" y="3192018"/>
            <a:ext cx="1851965" cy="230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40" b="0" i="0">
                <a:solidFill>
                  <a:srgbClr val="D97706"/>
                </a:solidFill>
                <a:latin typeface="Helvetica Neue"/>
              </a:rPr>
              <a:t>pending — the agent suspends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12200" y="3454400"/>
            <a:ext cx="3810000" cy="5588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Picture 50" descr="users--64748b.25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13800" y="3556000"/>
            <a:ext cx="165100" cy="1651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067800" y="3573018"/>
            <a:ext cx="1653540" cy="2304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40" b="0" i="0">
                <a:solidFill>
                  <a:srgbClr val="1F2937"/>
                </a:solidFill>
                <a:latin typeface="Helvetica Neue"/>
              </a:rPr>
              <a:t>a second attendee decides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13800" y="3803523"/>
            <a:ext cx="2447239" cy="2029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4748B"/>
                </a:solidFill>
                <a:latin typeface="Helvetica Neue"/>
              </a:rPr>
              <a:t>agent resumes within one 2 s polling cycle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12200" y="4156202"/>
            <a:ext cx="2393696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6D3FBF"/>
                </a:solidFill>
                <a:latin typeface="Helvetica Neue"/>
              </a:rPr>
              <a:t>Passing a decision between two people is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12200" y="4308602"/>
            <a:ext cx="2034642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6D3FBF"/>
                </a:solidFill>
                <a:latin typeface="Helvetica Neue"/>
              </a:rPr>
              <a:t>the part that is hard on paper and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12200" y="4461002"/>
            <a:ext cx="1196848" cy="2084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6D3FBF"/>
                </a:solidFill>
                <a:latin typeface="Helvetica Neue"/>
              </a:rPr>
              <a:t>immediate in person.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