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700000" cy="533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" y="508000"/>
            <a:ext cx="2565400" cy="3327400"/>
          </a:xfrm>
          <a:prstGeom prst="roundRect">
            <a:avLst>
              <a:gd name="adj" fmla="val 4950"/>
            </a:avLst>
          </a:prstGeom>
          <a:solidFill>
            <a:srgbClr val="FAFAFA"/>
          </a:solidFill>
          <a:ln w="12700">
            <a:solidFill>
              <a:srgbClr val="D8D8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cards--4d4d4d.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35000"/>
            <a:ext cx="190500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4200" y="568325"/>
            <a:ext cx="177165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InjecAgent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866140"/>
            <a:ext cx="1133856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Geist"/>
              </a:rPr>
              <a:t>one of 2,108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800" y="1244600"/>
            <a:ext cx="22606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31800" y="1359535"/>
            <a:ext cx="1637792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71717"/>
                </a:solidFill>
                <a:latin typeface="Geist"/>
              </a:rPr>
              <a:t>user instruction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1854200"/>
            <a:ext cx="2260600" cy="4826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1800" y="1969135"/>
            <a:ext cx="2866136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71717"/>
                </a:solidFill>
                <a:latin typeface="Geist"/>
              </a:rPr>
              <a:t>first tool call (legitimate)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800" y="2463800"/>
            <a:ext cx="2260600" cy="482600"/>
          </a:xfrm>
          <a:prstGeom prst="roundRect">
            <a:avLst>
              <a:gd name="adj" fmla="val 18421"/>
            </a:avLst>
          </a:prstGeom>
          <a:solidFill>
            <a:srgbClr val="FFE3E3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1800" y="2578735"/>
            <a:ext cx="307086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71717"/>
                </a:solidFill>
                <a:latin typeface="Geist"/>
              </a:rPr>
              <a:t>tool response ← injection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" y="3213735"/>
            <a:ext cx="2866136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Geist"/>
              </a:rPr>
              <a:t>no attacker call exists yet: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3431540"/>
            <a:ext cx="340156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the suite records the injection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6400" y="517525"/>
            <a:ext cx="23622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four arms, same 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6400" y="965200"/>
            <a:ext cx="4521200" cy="5588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946400" y="1041400"/>
            <a:ext cx="38100" cy="406400"/>
          </a:xfrm>
          <a:prstGeom prst="roundRect">
            <a:avLst>
              <a:gd name="adj" fmla="val 50000"/>
            </a:avLst>
          </a:prstGeom>
          <a:solidFill>
            <a:srgbClr val="D40000"/>
          </a:solidFill>
          <a:ln w="12700">
            <a:solidFill>
              <a:srgbClr val="D4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124200" y="1009332"/>
            <a:ext cx="106299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717"/>
                </a:solidFill>
                <a:latin typeface="Geist"/>
              </a:rPr>
              <a:t>attack 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4200" y="1234440"/>
            <a:ext cx="33070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tool response carries the injection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46400" y="1676400"/>
            <a:ext cx="4521200" cy="5588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946400" y="1752600"/>
            <a:ext cx="38100" cy="40640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124200" y="1720532"/>
            <a:ext cx="1594485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717"/>
                </a:solidFill>
                <a:latin typeface="Geist"/>
              </a:rPr>
              <a:t>matched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4200" y="1945640"/>
            <a:ext cx="510235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injection replaced by neutral prose of the same length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46400" y="2387600"/>
            <a:ext cx="4521200" cy="5588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2946400" y="2463800"/>
            <a:ext cx="38100" cy="406400"/>
          </a:xfrm>
          <a:prstGeom prst="roundRect">
            <a:avLst>
              <a:gd name="adj" fmla="val 50000"/>
            </a:avLst>
          </a:prstGeom>
          <a:solidFill>
            <a:srgbClr val="0E8A5F"/>
          </a:solidFill>
          <a:ln w="12700">
            <a:solidFill>
              <a:srgbClr val="0E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124200" y="2431732"/>
            <a:ext cx="106299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717"/>
                </a:solidFill>
                <a:latin typeface="Geist"/>
              </a:rPr>
              <a:t>benign arm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4200" y="2656840"/>
            <a:ext cx="576376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synthesised from the tool schema alone; 5 decoy tools offered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46400" y="3098800"/>
            <a:ext cx="4521200" cy="5588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2946400" y="3175000"/>
            <a:ext cx="38100" cy="406400"/>
          </a:xfrm>
          <a:prstGeom prst="roundRect">
            <a:avLst>
              <a:gd name="adj" fmla="val 50000"/>
            </a:avLst>
          </a:prstGeom>
          <a:solidFill>
            <a:srgbClr val="0E8A5F"/>
          </a:solidFill>
          <a:ln w="12700">
            <a:solidFill>
              <a:srgbClr val="0E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124200" y="3142932"/>
            <a:ext cx="1594485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717"/>
                </a:solidFill>
                <a:latin typeface="Geist"/>
              </a:rPr>
              <a:t>two-step benign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24200" y="3368040"/>
            <a:ext cx="6425184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lookup → clean tool response → act on it; arguments tool-derived too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0" y="2171700"/>
            <a:ext cx="15240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895600" y="1244600"/>
            <a:ext cx="0" cy="92710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895600" y="1244600"/>
            <a:ext cx="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43200" y="2171700"/>
            <a:ext cx="15240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895600" y="1955800"/>
            <a:ext cx="0" cy="21590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895600" y="1955800"/>
            <a:ext cx="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43200" y="2171700"/>
            <a:ext cx="15240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95600" y="2171700"/>
            <a:ext cx="0" cy="49530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895600" y="2667000"/>
            <a:ext cx="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743200" y="2171700"/>
            <a:ext cx="15240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895600" y="2171700"/>
            <a:ext cx="0" cy="120650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895600" y="3378200"/>
            <a:ext cx="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946400" y="3761740"/>
            <a:ext cx="651967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D4D4D"/>
                </a:solidFill>
                <a:latin typeface="Geist"/>
              </a:rPr>
              <a:t>only the arm differs; the case, the tools and the agent are identical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93000" y="1244600"/>
            <a:ext cx="15240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45400" y="1244600"/>
            <a:ext cx="0" cy="101600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45400" y="2260600"/>
            <a:ext cx="15240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93000" y="1955800"/>
            <a:ext cx="15240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645400" y="1955800"/>
            <a:ext cx="0" cy="30480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645400" y="2260600"/>
            <a:ext cx="15240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493000" y="2667000"/>
            <a:ext cx="15240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645400" y="2260600"/>
            <a:ext cx="0" cy="40640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645400" y="2260600"/>
            <a:ext cx="15240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493000" y="3378200"/>
            <a:ext cx="15240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645400" y="2260600"/>
            <a:ext cx="0" cy="111760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645400" y="2260600"/>
            <a:ext cx="15240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670800" y="2260600"/>
            <a:ext cx="139700" cy="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7848600" y="1422400"/>
            <a:ext cx="1930400" cy="1676400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8" name="Picture 57" descr="robot--4d4d4d.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49400"/>
            <a:ext cx="190500" cy="1905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280400" y="1482725"/>
            <a:ext cx="11811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live 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01000" y="1845945"/>
            <a:ext cx="1039368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 Mono"/>
              </a:rPr>
              <a:t>Qwen3-VL-32B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01000" y="2023745"/>
            <a:ext cx="1645666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 Mono"/>
              </a:rPr>
              <a:t>Instruct, AWQ 4-bit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01000" y="2201545"/>
            <a:ext cx="1818894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 Mono"/>
              </a:rPr>
              <a:t>prompt-rendered tools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01000" y="2491740"/>
            <a:ext cx="2645664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chooses its own next action;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2682240"/>
            <a:ext cx="245668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arguments: the model's own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817100" y="2260600"/>
            <a:ext cx="241300" cy="0"/>
          </a:xfrm>
          <a:prstGeom prst="line">
            <a:avLst/>
          </a:prstGeom>
          <a:ln w="1778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10109200" y="508000"/>
            <a:ext cx="2438400" cy="1676400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7" name="Picture 66" descr="scale--4d4d4d.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600" y="635000"/>
            <a:ext cx="190500" cy="1905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541000" y="568325"/>
            <a:ext cx="76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label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61600" y="920750"/>
            <a:ext cx="1889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D4D4D"/>
                </a:solidFill>
                <a:latin typeface="Geist Mono"/>
              </a:rPr>
              <a:t>compromised ⇔ call names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61600" y="1098550"/>
            <a:ext cx="21259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D4D4D"/>
                </a:solidFill>
                <a:latin typeface="Geist Mono"/>
              </a:rPr>
              <a:t>a tool on the attacker list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261600" y="1422400"/>
            <a:ext cx="2133600" cy="203200"/>
          </a:xfrm>
          <a:prstGeom prst="roundRect">
            <a:avLst>
              <a:gd name="adj" fmla="val 25000"/>
            </a:avLst>
          </a:prstGeom>
          <a:solidFill>
            <a:srgbClr val="FFE3E3"/>
          </a:solidFill>
          <a:ln w="12700">
            <a:solidFill>
              <a:srgbClr val="FF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10261600" y="1422400"/>
            <a:ext cx="2028414" cy="203200"/>
          </a:xfrm>
          <a:prstGeom prst="roundRect">
            <a:avLst>
              <a:gd name="adj" fmla="val 25000"/>
            </a:avLst>
          </a:prstGeom>
          <a:solidFill>
            <a:srgbClr val="D40000"/>
          </a:solidFill>
          <a:ln w="12700">
            <a:solidFill>
              <a:srgbClr val="D4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10312400" y="1421448"/>
            <a:ext cx="1570863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Geist"/>
              </a:rPr>
              <a:t>attack arm  95.07 %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261600" y="1676400"/>
            <a:ext cx="2133600" cy="203200"/>
          </a:xfrm>
          <a:prstGeom prst="roundRect">
            <a:avLst>
              <a:gd name="adj" fmla="val 25000"/>
            </a:avLst>
          </a:prstGeom>
          <a:solidFill>
            <a:srgbClr val="F0F0F0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10261600" y="1676400"/>
            <a:ext cx="25400" cy="20320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0363200" y="1675448"/>
            <a:ext cx="1984248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71717"/>
                </a:solidFill>
                <a:latin typeface="Geist"/>
              </a:rPr>
              <a:t>matched control  0.285 %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61600" y="1925955"/>
            <a:ext cx="2409444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Geist Mono"/>
              </a:rPr>
              <a:t>n = 2,108 per arm · risk ratio 334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1328400" y="2209800"/>
            <a:ext cx="0" cy="152400"/>
          </a:xfrm>
          <a:prstGeom prst="line">
            <a:avLst/>
          </a:prstGeom>
          <a:ln w="1524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10109200" y="2387600"/>
            <a:ext cx="2438400" cy="1625600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0" name="Picture 79" descr="database--4d4d4d.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1600" y="2514600"/>
            <a:ext cx="190500" cy="1905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0541000" y="2447925"/>
            <a:ext cx="762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corpus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61600" y="2745740"/>
            <a:ext cx="103936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1717"/>
                </a:solidFill>
                <a:latin typeface="Geist"/>
              </a:rPr>
              <a:t>663 records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61600" y="2923540"/>
            <a:ext cx="245668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237 malicious · 426 benign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61600" y="3101340"/>
            <a:ext cx="2645664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each emitted by a live agent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61600" y="3428048"/>
            <a:ext cx="2149602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Geist Mono"/>
              </a:rPr>
              <a:t>surface AUC  0.947 → 0.585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261600" y="3605848"/>
            <a:ext cx="1901571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Geist Mono"/>
              </a:rPr>
              <a:t>label leak    100 % → 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61600" y="3778250"/>
            <a:ext cx="18110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ist"/>
              </a:rPr>
              <a:t>before → after, Table 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2400" y="4222432"/>
            <a:ext cx="2444877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717"/>
                </a:solidFill>
                <a:latin typeface="Geist"/>
              </a:rPr>
              <a:t>Why this is the corpus.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84400" y="4244340"/>
            <a:ext cx="13889736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An attacker's call exists only after an agent has read an injection and acted on it. Fabricating it plants a shortcut no held-out split can detect;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2400" y="4472940"/>
            <a:ext cx="13417296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compromising a live agent and recording what it emits is the only construction in which malicious and benign calls come from the same process.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" y="4828540"/>
            <a:ext cx="155905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The matched control answers the objection that the agent would have called that tool anyway: 0.285 % against 95.07 %. The two benign arms keep the comparison honest: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00" y="5019040"/>
            <a:ext cx="982675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Geist"/>
              </a:rPr>
              <a:t>without the two-step arm, “did untrusted text precede this call?” would separate the classes on its 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